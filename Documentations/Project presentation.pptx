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3" r:id="rId6"/>
    <p:sldId id="264" r:id="rId7"/>
    <p:sldId id="267" r:id="rId8"/>
    <p:sldId id="266" r:id="rId9"/>
    <p:sldId id="268" r:id="rId10"/>
    <p:sldId id="269" r:id="rId11"/>
    <p:sldId id="270" r:id="rId12"/>
    <p:sldId id="277" r:id="rId13"/>
    <p:sldId id="278" r:id="rId14"/>
    <p:sldId id="280" r:id="rId15"/>
    <p:sldId id="271" r:id="rId16"/>
    <p:sldId id="279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סגנון בהיר 1 - הדגשה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3A4F73-43F4-1DE1-37D2-852EDC229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C6D54E0-D63D-E649-04EE-A7A5875FA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CB8A1A2-4F02-8A95-B10D-596DE0180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7E05DBE-7525-016A-3263-B7E8DECAB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6A5F49-91D8-C623-531F-DCAE23FD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782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33D8EA-69A2-28D8-20E7-671286C6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8188CA-D245-D370-F679-DFBABAEA5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E7B407D-7786-67D9-16FE-5616A83DA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544E9E-E162-5E40-7A0A-CD94A577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B61E6C-FE1A-00F3-8C40-66D284CF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243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64974F-0B80-D9A5-9E5A-8F5B67A2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D316F6-91E4-4A75-1316-FCAF09002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B394-F8C6-9E80-B385-BBFF12D3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8BE67E8-0819-0094-580D-2FFFCD90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6D6361-1A8F-22B2-0E58-E6945223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2661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86886D-AF25-D1E9-74A3-D5C3A5CA7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76C0E10-73BB-CFBC-6030-E01F72905B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ED20C3C-B7B5-1D10-FE5C-F8CD31605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B42B0E6-0821-3E15-2B6C-D86D416A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2026BE-039B-C325-0436-2B37BB47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79CB14F-AC45-04B8-05B1-84931467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084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B16CE0B-4353-67C7-74B4-7B8F2A88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9195856-EEEA-18A8-2321-E7E42748E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35B971A-62A4-978D-E718-697BF28F9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EC5C29E-297C-8E58-6CEA-3843136D3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64A3E63-443B-0A32-78DE-0999FA0D8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BA54598-FD1E-4B6B-D961-02656262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5D9336C-6C74-BD4B-CC80-4EF4ECA9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61AE74F-F277-7FCD-B01C-B2644E95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8271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79700D-7891-B65F-796B-4EDF99FF0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5AB9D84-536B-29E7-1002-A7B2F149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C85C9AE6-90F4-4799-CC64-D61441E52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98D7F940-7806-F640-8308-58D397B2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7114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5DF27D3-CE77-7848-4FA5-01C4FD9C0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02C1DE4-EC62-DF07-970C-C558C40F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320AAC6-C963-41E1-2555-8CE9EEFD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336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B53990-6D0F-C83C-5B67-62EE85F5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6AF004D-A746-5B89-7E79-232C81092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D3D838D-EAEE-6C0C-09D5-108600514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C68630-5D18-3E98-544E-65E128BC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089C259-C26C-4180-855E-37D2F5BF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031D5F4-44BC-FFD4-D23E-4A57907E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9707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07EDF6-E748-8E04-75C3-1EFDC5F0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19CAE30-B040-D2B5-D75F-F97CCADD0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6C9FE33-A775-6C0A-922C-B639279CF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84E8F33-AE85-51E3-4AC9-6A210181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6643FEA-D8E7-C2A6-5EB1-FDCAE0EF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9878498-7335-F152-FBD3-B78D05F2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614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732BA4-B980-E8CE-978C-DAFF01BF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755AAC6-709B-2223-E30B-D0D8584F2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CE0768-1BED-54D8-3E4B-DA25171B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BB116A-6E3E-8B51-7F44-FE31AFAD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C02503D-059E-5E16-2460-FEDE9FA0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4142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54EAE37-D1AF-52E6-5DFF-24ED119AF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AFC4EF4-37F3-68B3-9941-5F128F841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F9C566-824D-9A04-7F7E-528F59B6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D7F87C3-4484-7FBE-CAFF-B9E7D46A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B1D126C-70C5-F46F-2872-96CC2E75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5632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F6F10C8-8B0E-3CC7-3260-94109A103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051782B-370F-2EB1-FC74-2286E1FBF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78BB78B-D952-20DB-FCB3-2C50CE5DE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8AB30-8A32-4716-95C5-84200EBBC64A}" type="datetimeFigureOut">
              <a:rPr lang="he-IL" smtClean="0"/>
              <a:t>כ"א/אלול/תשפ"ה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C0F083D-911C-F5D6-8281-20AFE8E22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4C4D30F-4893-8C56-B681-F4A978BFE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943BCC-C280-4F6E-B786-A8F70AC0CC3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515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doshalev7/Dual_Core_Project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5B4654-9972-6748-79E9-FCB2D960A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3299" y="914400"/>
            <a:ext cx="9144000" cy="2984862"/>
          </a:xfrm>
        </p:spPr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Processor Extensions to Support Dual-Core Code Synchronization</a:t>
            </a:r>
            <a:br>
              <a:rPr lang="en-US" dirty="0">
                <a:effectLst/>
              </a:rPr>
            </a:b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223FBBC-A825-5A9B-4F26-61570C74F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30861"/>
          </a:xfrm>
        </p:spPr>
        <p:txBody>
          <a:bodyPr/>
          <a:lstStyle/>
          <a:p>
            <a:pPr algn="l"/>
            <a:r>
              <a:rPr lang="en-US" dirty="0">
                <a:effectLst/>
              </a:rPr>
              <a:t>Project Number: 3030</a:t>
            </a:r>
            <a:endParaRPr lang="he-IL" dirty="0">
              <a:effectLst/>
            </a:endParaRPr>
          </a:p>
          <a:p>
            <a:pPr algn="l"/>
            <a:r>
              <a:rPr lang="en-US" dirty="0">
                <a:effectLst/>
              </a:rPr>
              <a:t>Students: Ido Shalev, Matan Levin</a:t>
            </a:r>
            <a:endParaRPr lang="he-IL" dirty="0">
              <a:effectLst/>
            </a:endParaRPr>
          </a:p>
          <a:p>
            <a:pPr algn="l"/>
            <a:r>
              <a:rPr lang="en-US" dirty="0"/>
              <a:t>Supervisor</a:t>
            </a:r>
            <a:r>
              <a:rPr lang="en-US" dirty="0">
                <a:effectLst/>
              </a:rPr>
              <a:t>: Oren Ganon</a:t>
            </a:r>
            <a:endParaRPr lang="he-IL" dirty="0">
              <a:effectLst/>
            </a:endParaRPr>
          </a:p>
          <a:p>
            <a:pPr algn="l"/>
            <a:r>
              <a:rPr lang="en-US" dirty="0">
                <a:effectLst/>
              </a:rPr>
              <a:t>Location: Tel Aviv University,</a:t>
            </a:r>
            <a:r>
              <a:rPr lang="en-US" dirty="0"/>
              <a:t> Projects Lab</a:t>
            </a:r>
            <a:endParaRPr lang="en-US" dirty="0">
              <a:effectLst/>
            </a:endParaRPr>
          </a:p>
          <a:p>
            <a:pPr algn="l"/>
            <a:endParaRPr lang="en-US" dirty="0">
              <a:effectLst/>
            </a:endParaRPr>
          </a:p>
          <a:p>
            <a:pPr algn="l"/>
            <a:endParaRPr lang="en-US" dirty="0">
              <a:effectLst/>
            </a:endParaRPr>
          </a:p>
          <a:p>
            <a:pPr algn="l"/>
            <a:endParaRPr lang="en-US" dirty="0">
              <a:effectLst/>
            </a:endParaRPr>
          </a:p>
          <a:p>
            <a:pPr algn="l"/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F108C63-2DD7-0C61-0EDF-2EB2EB26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69" y="89133"/>
            <a:ext cx="2838846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6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5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6" name="Rectangle 6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3EB0C6A-DA4B-9005-D6E7-A0B52DEF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99" y="1082841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  <a:effectLst/>
              </a:rPr>
              <a:t>What is the Project ?</a:t>
            </a:r>
            <a:br>
              <a:rPr lang="en-US" sz="3600" dirty="0">
                <a:solidFill>
                  <a:schemeClr val="tx2"/>
                </a:solidFill>
                <a:effectLst/>
              </a:rPr>
            </a:br>
            <a:endParaRPr lang="he-IL" sz="3600" dirty="0">
              <a:solidFill>
                <a:schemeClr val="tx2"/>
              </a:solidFill>
            </a:endParaRPr>
          </a:p>
        </p:txBody>
      </p:sp>
      <p:sp>
        <p:nvSpPr>
          <p:cNvPr id="53" name="מציין מיקום תוכן 2">
            <a:extLst>
              <a:ext uri="{FF2B5EF4-FFF2-40B4-BE49-F238E27FC236}">
                <a16:creationId xmlns:a16="http://schemas.microsoft.com/office/drawing/2014/main" id="{960E1718-C485-C80E-B664-FCF6F599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5013567" cy="3353476"/>
          </a:xfrm>
        </p:spPr>
        <p:txBody>
          <a:bodyPr anchor="t">
            <a:normAutofit/>
          </a:bodyPr>
          <a:lstStyle/>
          <a:p>
            <a:pPr marL="0" indent="0" algn="l" rtl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2"/>
                </a:solidFill>
              </a:rPr>
              <a:t>We extended the </a:t>
            </a:r>
            <a:r>
              <a:rPr lang="en-US" sz="1800" b="1" dirty="0">
                <a:solidFill>
                  <a:schemeClr val="tx2"/>
                </a:solidFill>
              </a:rPr>
              <a:t>DLX processor </a:t>
            </a:r>
            <a:r>
              <a:rPr lang="en-US" sz="1800" dirty="0">
                <a:solidFill>
                  <a:schemeClr val="tx2"/>
                </a:solidFill>
              </a:rPr>
              <a:t>into a </a:t>
            </a:r>
            <a:r>
              <a:rPr lang="en-US" sz="1800" b="1" dirty="0">
                <a:solidFill>
                  <a:schemeClr val="tx2"/>
                </a:solidFill>
              </a:rPr>
              <a:t>dual- core system</a:t>
            </a:r>
            <a:r>
              <a:rPr lang="en-US" sz="1800" dirty="0">
                <a:solidFill>
                  <a:schemeClr val="tx2"/>
                </a:solidFill>
              </a:rPr>
              <a:t> with shared memory, adding </a:t>
            </a:r>
            <a:r>
              <a:rPr lang="en-US" sz="1800" b="1" dirty="0">
                <a:solidFill>
                  <a:schemeClr val="tx2"/>
                </a:solidFill>
              </a:rPr>
              <a:t>atomic instructions </a:t>
            </a:r>
            <a:r>
              <a:rPr lang="en-US" sz="1800" dirty="0">
                <a:solidFill>
                  <a:schemeClr val="tx2"/>
                </a:solidFill>
              </a:rPr>
              <a:t>and </a:t>
            </a:r>
            <a:r>
              <a:rPr lang="en-US" sz="1800" b="1" dirty="0">
                <a:solidFill>
                  <a:schemeClr val="tx2"/>
                </a:solidFill>
              </a:rPr>
              <a:t>synchronization hardware</a:t>
            </a:r>
            <a:r>
              <a:rPr lang="en-US" sz="1800" dirty="0">
                <a:solidFill>
                  <a:schemeClr val="tx2"/>
                </a:solidFill>
              </a:rPr>
              <a:t> to guarantee </a:t>
            </a:r>
            <a:r>
              <a:rPr lang="en-US" sz="1800" b="1" dirty="0">
                <a:solidFill>
                  <a:schemeClr val="tx2"/>
                </a:solidFill>
              </a:rPr>
              <a:t>safe parallel execution </a:t>
            </a:r>
            <a:endParaRPr lang="en-US" sz="2000" b="1" dirty="0">
              <a:solidFill>
                <a:schemeClr val="tx2"/>
              </a:solidFill>
            </a:endParaRPr>
          </a:p>
          <a:p>
            <a:pPr rtl="0"/>
            <a:endParaRPr lang="en-US" sz="1500" dirty="0">
              <a:solidFill>
                <a:schemeClr val="tx2"/>
              </a:solidFill>
              <a:effectLst/>
            </a:endParaRPr>
          </a:p>
          <a:p>
            <a:pPr rtl="0"/>
            <a:endParaRPr lang="he-IL" sz="1500" dirty="0">
              <a:solidFill>
                <a:schemeClr val="tx2"/>
              </a:solidFill>
            </a:endParaRPr>
          </a:p>
        </p:txBody>
      </p:sp>
      <p:grpSp>
        <p:nvGrpSpPr>
          <p:cNvPr id="77" name="Group 6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Freeform: Shape 6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Freeform: Shape 6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" name="מלבן 3">
            <a:extLst>
              <a:ext uri="{FF2B5EF4-FFF2-40B4-BE49-F238E27FC236}">
                <a16:creationId xmlns:a16="http://schemas.microsoft.com/office/drawing/2014/main" id="{44C66564-976D-DBDF-B64C-368953034E32}"/>
              </a:ext>
            </a:extLst>
          </p:cNvPr>
          <p:cNvSpPr/>
          <p:nvPr/>
        </p:nvSpPr>
        <p:spPr>
          <a:xfrm>
            <a:off x="9605727" y="2213453"/>
            <a:ext cx="679010" cy="928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p0</a:t>
            </a: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059027F-03E5-15E9-42C4-911D32F07C3D}"/>
              </a:ext>
            </a:extLst>
          </p:cNvPr>
          <p:cNvSpPr/>
          <p:nvPr/>
        </p:nvSpPr>
        <p:spPr>
          <a:xfrm>
            <a:off x="9605727" y="4379430"/>
            <a:ext cx="679010" cy="9280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p1</a:t>
            </a:r>
            <a:endParaRPr kumimoji="0" lang="he-IL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0843CE22-ECEF-C84C-4282-9E4204605D0B}"/>
              </a:ext>
            </a:extLst>
          </p:cNvPr>
          <p:cNvSpPr/>
          <p:nvPr/>
        </p:nvSpPr>
        <p:spPr>
          <a:xfrm>
            <a:off x="9325069" y="3429000"/>
            <a:ext cx="1195058" cy="64505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SyncBox</a:t>
            </a:r>
            <a:endParaRPr kumimoji="0" lang="he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0B30FABE-3F97-E185-994D-D4616F911CD5}"/>
              </a:ext>
            </a:extLst>
          </p:cNvPr>
          <p:cNvCxnSpPr>
            <a:stCxn id="5" idx="0"/>
          </p:cNvCxnSpPr>
          <p:nvPr/>
        </p:nvCxnSpPr>
        <p:spPr>
          <a:xfrm flipV="1">
            <a:off x="9945232" y="4074059"/>
            <a:ext cx="4526" cy="3053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EA9B43D2-8184-1F33-6C6D-3575A6181415}"/>
              </a:ext>
            </a:extLst>
          </p:cNvPr>
          <p:cNvCxnSpPr/>
          <p:nvPr/>
        </p:nvCxnSpPr>
        <p:spPr>
          <a:xfrm flipV="1">
            <a:off x="9945232" y="3132591"/>
            <a:ext cx="4526" cy="30537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1CD28D9D-4515-F2F5-8F90-9E674738D5A5}"/>
              </a:ext>
            </a:extLst>
          </p:cNvPr>
          <p:cNvSpPr txBox="1"/>
          <p:nvPr/>
        </p:nvSpPr>
        <p:spPr>
          <a:xfrm>
            <a:off x="10008607" y="2904285"/>
            <a:ext cx="1122629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</a:t>
            </a:r>
            <a:endParaRPr kumimoji="0" lang="he-IL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48093FD-2E6F-E128-BB81-C649D8EBDD94}"/>
              </a:ext>
            </a:extLst>
          </p:cNvPr>
          <p:cNvSpPr txBox="1"/>
          <p:nvPr/>
        </p:nvSpPr>
        <p:spPr>
          <a:xfrm>
            <a:off x="10064146" y="4288679"/>
            <a:ext cx="1122629" cy="2769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EXTENSION</a:t>
            </a:r>
            <a:endParaRPr kumimoji="0" lang="he-IL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0B0C1F0F-1649-6E49-10D4-6B9EF0FF6D03}"/>
              </a:ext>
            </a:extLst>
          </p:cNvPr>
          <p:cNvSpPr/>
          <p:nvPr/>
        </p:nvSpPr>
        <p:spPr>
          <a:xfrm>
            <a:off x="7749006" y="3141552"/>
            <a:ext cx="967216" cy="11981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PC MASTER</a:t>
            </a:r>
            <a:endParaRPr kumimoji="0" lang="he-IL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4F70A45C-DB4E-502C-0F9B-CD3486D9846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718745" y="3751529"/>
            <a:ext cx="606324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1D88D823-4CD2-1D55-1A6B-234C5487A517}"/>
              </a:ext>
            </a:extLst>
          </p:cNvPr>
          <p:cNvSpPr txBox="1"/>
          <p:nvPr/>
        </p:nvSpPr>
        <p:spPr>
          <a:xfrm>
            <a:off x="5833778" y="5558828"/>
            <a:ext cx="3431263" cy="830997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custom Hardware RTL design </a:t>
            </a:r>
            <a:endParaRPr kumimoji="0" lang="he-IL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6" name="מחבר חץ ישר 25">
            <a:extLst>
              <a:ext uri="{FF2B5EF4-FFF2-40B4-BE49-F238E27FC236}">
                <a16:creationId xmlns:a16="http://schemas.microsoft.com/office/drawing/2014/main" id="{9922AB2C-3D6C-4DA4-350C-B9558E95456D}"/>
              </a:ext>
            </a:extLst>
          </p:cNvPr>
          <p:cNvCxnSpPr>
            <a:cxnSpLocks/>
          </p:cNvCxnSpPr>
          <p:nvPr/>
        </p:nvCxnSpPr>
        <p:spPr>
          <a:xfrm flipV="1">
            <a:off x="8716222" y="4074059"/>
            <a:ext cx="595855" cy="1484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מלבן 26">
            <a:extLst>
              <a:ext uri="{FF2B5EF4-FFF2-40B4-BE49-F238E27FC236}">
                <a16:creationId xmlns:a16="http://schemas.microsoft.com/office/drawing/2014/main" id="{17237220-D261-3EB9-8401-02181C9DC154}"/>
              </a:ext>
            </a:extLst>
          </p:cNvPr>
          <p:cNvSpPr/>
          <p:nvPr/>
        </p:nvSpPr>
        <p:spPr>
          <a:xfrm>
            <a:off x="9325069" y="1991763"/>
            <a:ext cx="2417276" cy="346747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34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57AFC91-1812-37C7-4D51-876C2996C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77" y="169636"/>
            <a:ext cx="10279444" cy="1560820"/>
          </a:xfrm>
        </p:spPr>
        <p:txBody>
          <a:bodyPr anchor="b">
            <a:noAutofit/>
          </a:bodyPr>
          <a:lstStyle/>
          <a:p>
            <a:pPr algn="l" rtl="0"/>
            <a:br>
              <a:rPr lang="en-US" sz="4000" dirty="0">
                <a:solidFill>
                  <a:schemeClr val="tx2"/>
                </a:solidFill>
                <a:effectLst/>
              </a:rPr>
            </a:br>
            <a:r>
              <a:rPr lang="en-US" sz="4000" dirty="0">
                <a:solidFill>
                  <a:schemeClr val="tx2"/>
                </a:solidFill>
                <a:effectLst/>
              </a:rPr>
              <a:t>Goals</a:t>
            </a:r>
            <a:br>
              <a:rPr lang="en-US" sz="4000" dirty="0">
                <a:solidFill>
                  <a:schemeClr val="tx2"/>
                </a:solidFill>
                <a:effectLst/>
              </a:rPr>
            </a:br>
            <a:endParaRPr lang="he-IL" sz="40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0B28371-A8C2-1251-392F-D2DDDA18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0807" y="1621318"/>
            <a:ext cx="6706343" cy="4744016"/>
          </a:xfrm>
        </p:spPr>
        <p:txBody>
          <a:bodyPr>
            <a:normAutofit lnSpcReduction="10000"/>
          </a:bodyPr>
          <a:lstStyle/>
          <a:p>
            <a:pPr algn="l" rtl="0"/>
            <a:r>
              <a:rPr lang="en-US" sz="2400" b="1" dirty="0">
                <a:solidFill>
                  <a:schemeClr val="tx2"/>
                </a:solidFill>
              </a:rPr>
              <a:t>Motivation</a:t>
            </a:r>
            <a:r>
              <a:rPr lang="en-US" sz="2400" dirty="0">
                <a:solidFill>
                  <a:schemeClr val="tx2"/>
                </a:solidFill>
              </a:rPr>
              <a:t>: Multi-core improves speed &amp; efficiency, but DLX lacks atomic ops → unsafe external memory access, might cause logical and technical failures.</a:t>
            </a:r>
          </a:p>
          <a:p>
            <a:pPr algn="l" rtl="0"/>
            <a:r>
              <a:rPr lang="en-US" sz="2400" b="1" dirty="0">
                <a:solidFill>
                  <a:schemeClr val="tx2"/>
                </a:solidFill>
              </a:rPr>
              <a:t>Solution</a:t>
            </a:r>
            <a:r>
              <a:rPr lang="en-US" sz="2400" dirty="0">
                <a:solidFill>
                  <a:schemeClr val="tx2"/>
                </a:solidFill>
              </a:rPr>
              <a:t>: We Extended the DLX with atomic instructions (LR/SC, SWAP, AMOADD).</a:t>
            </a:r>
          </a:p>
          <a:p>
            <a:pPr algn="l" rtl="0"/>
            <a:r>
              <a:rPr lang="en-US" sz="2400" b="1" dirty="0">
                <a:solidFill>
                  <a:schemeClr val="tx2"/>
                </a:solidFill>
              </a:rPr>
              <a:t>Design</a:t>
            </a:r>
            <a:r>
              <a:rPr lang="en-US" sz="2400" dirty="0">
                <a:solidFill>
                  <a:schemeClr val="tx2"/>
                </a:solidFill>
              </a:rPr>
              <a:t>: Added SyncBox hardware for safe memory access synchronization and we extended each core’s control unit with 4 new states while keeping original DLX functionality.</a:t>
            </a:r>
          </a:p>
          <a:p>
            <a:pPr algn="l" rtl="0"/>
            <a:r>
              <a:rPr lang="en-US" sz="2400" b="1" dirty="0">
                <a:solidFill>
                  <a:schemeClr val="tx2"/>
                </a:solidFill>
              </a:rPr>
              <a:t>Impact</a:t>
            </a:r>
            <a:r>
              <a:rPr lang="en-US" sz="2400" dirty="0">
                <a:solidFill>
                  <a:schemeClr val="tx2"/>
                </a:solidFill>
              </a:rPr>
              <a:t>: Enables secure dual-core execution, supports parallel workloads and improves efficiency.</a:t>
            </a:r>
          </a:p>
          <a:p>
            <a:pPr algn="l" rtl="0"/>
            <a:endParaRPr lang="he-IL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2483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8F2FD53-82CA-78C4-1F2A-1D9CC3B93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99" y="435134"/>
            <a:ext cx="9833548" cy="1325563"/>
          </a:xfrm>
        </p:spPr>
        <p:txBody>
          <a:bodyPr anchor="b">
            <a:normAutofit/>
          </a:bodyPr>
          <a:lstStyle/>
          <a:p>
            <a:pPr algn="l"/>
            <a:r>
              <a:rPr lang="en-US" sz="3600" dirty="0">
                <a:solidFill>
                  <a:schemeClr val="tx2"/>
                </a:solidFill>
                <a:effectLst/>
              </a:rPr>
              <a:t>Challenges in Single-Core DLX for Dual-Core</a:t>
            </a:r>
            <a:br>
              <a:rPr lang="en-US" sz="3600" dirty="0">
                <a:solidFill>
                  <a:schemeClr val="tx2"/>
                </a:solidFill>
                <a:effectLst/>
              </a:rPr>
            </a:br>
            <a:endParaRPr lang="he-IL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03DD376-1FA7-839F-77E8-28FB92ED4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599" y="1331328"/>
            <a:ext cx="11170763" cy="1466249"/>
          </a:xfrm>
        </p:spPr>
        <p:txBody>
          <a:bodyPr>
            <a:normAutofit/>
          </a:bodyPr>
          <a:lstStyle/>
          <a:p>
            <a:pPr algn="l" rtl="0"/>
            <a:r>
              <a:rPr lang="en-US" sz="2600" dirty="0">
                <a:solidFill>
                  <a:schemeClr val="tx2"/>
                </a:solidFill>
              </a:rPr>
              <a:t>Even with atomicity support both cores can’t access external memory at the same time and have to take turns thus reducing parallelism for memory access instructions.</a:t>
            </a:r>
          </a:p>
          <a:p>
            <a:pPr marL="0" indent="0" rtl="0">
              <a:buNone/>
            </a:pPr>
            <a:endParaRPr lang="he-IL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E18EE5FF-ECD1-E148-911A-20029E5B1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1" t="5167" r="3092" b="12401"/>
          <a:stretch>
            <a:fillRect/>
          </a:stretch>
        </p:blipFill>
        <p:spPr>
          <a:xfrm>
            <a:off x="1838227" y="3068579"/>
            <a:ext cx="6147533" cy="363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60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B1CE909-7C7C-CA7B-B389-379E5348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099" y="0"/>
            <a:ext cx="3517532" cy="873760"/>
          </a:xfrm>
        </p:spPr>
        <p:txBody>
          <a:bodyPr anchor="b">
            <a:normAutofit/>
          </a:bodyPr>
          <a:lstStyle/>
          <a:p>
            <a:pPr rtl="0"/>
            <a:r>
              <a:rPr lang="en-US" sz="3200" dirty="0">
                <a:effectLst/>
              </a:rPr>
              <a:t>Atomic Instructions</a:t>
            </a:r>
            <a:endParaRPr lang="he-IL" sz="32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A92BE9-3C76-4477-491A-EA02002D7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699" y="873760"/>
            <a:ext cx="10349101" cy="1099856"/>
          </a:xfrm>
        </p:spPr>
        <p:txBody>
          <a:bodyPr anchor="t">
            <a:normAutofit/>
          </a:bodyPr>
          <a:lstStyle/>
          <a:p>
            <a:pPr marL="0" indent="0" algn="l" rtl="0">
              <a:buNone/>
            </a:pPr>
            <a:r>
              <a:rPr lang="en-US" sz="1700" dirty="0">
                <a:effectLst/>
              </a:rPr>
              <a:t>Atomic operations are indivisible instructions that execute completely or not at all, ensuring that no other process can interrupt or interfere with them midway. In multi-core systems like ours, they prevent race conditions by guaranteeing exclusive access to shared memory during read-write sequences, maintaining data consistency and secure memory accessing .</a:t>
            </a:r>
          </a:p>
          <a:p>
            <a:pPr marL="0" indent="0" rtl="0">
              <a:buNone/>
            </a:pPr>
            <a:endParaRPr lang="he-IL" sz="17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טבלה 3">
                <a:extLst>
                  <a:ext uri="{FF2B5EF4-FFF2-40B4-BE49-F238E27FC236}">
                    <a16:creationId xmlns:a16="http://schemas.microsoft.com/office/drawing/2014/main" id="{195E439F-C11E-A62B-F9A9-0DAC10E2A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763691"/>
                  </p:ext>
                </p:extLst>
              </p:nvPr>
            </p:nvGraphicFramePr>
            <p:xfrm>
              <a:off x="60960" y="2623250"/>
              <a:ext cx="11933520" cy="3965718"/>
            </p:xfrm>
            <a:graphic>
              <a:graphicData uri="http://schemas.openxmlformats.org/drawingml/2006/table">
                <a:tbl>
                  <a:tblPr rtl="1" firstRow="1" bandRow="1">
                    <a:tableStyleId>{9D7B26C5-4107-4FEC-AEDC-1716B250A1EF}</a:tableStyleId>
                  </a:tblPr>
                  <a:tblGrid>
                    <a:gridCol w="1754106">
                      <a:extLst>
                        <a:ext uri="{9D8B030D-6E8A-4147-A177-3AD203B41FA5}">
                          <a16:colId xmlns:a16="http://schemas.microsoft.com/office/drawing/2014/main" val="2736230435"/>
                        </a:ext>
                      </a:extLst>
                    </a:gridCol>
                    <a:gridCol w="4459908">
                      <a:extLst>
                        <a:ext uri="{9D8B030D-6E8A-4147-A177-3AD203B41FA5}">
                          <a16:colId xmlns:a16="http://schemas.microsoft.com/office/drawing/2014/main" val="4015550440"/>
                        </a:ext>
                      </a:extLst>
                    </a:gridCol>
                    <a:gridCol w="2295862">
                      <a:extLst>
                        <a:ext uri="{9D8B030D-6E8A-4147-A177-3AD203B41FA5}">
                          <a16:colId xmlns:a16="http://schemas.microsoft.com/office/drawing/2014/main" val="1124513892"/>
                        </a:ext>
                      </a:extLst>
                    </a:gridCol>
                    <a:gridCol w="1688198">
                      <a:extLst>
                        <a:ext uri="{9D8B030D-6E8A-4147-A177-3AD203B41FA5}">
                          <a16:colId xmlns:a16="http://schemas.microsoft.com/office/drawing/2014/main" val="8162398"/>
                        </a:ext>
                      </a:extLst>
                    </a:gridCol>
                    <a:gridCol w="1735446">
                      <a:extLst>
                        <a:ext uri="{9D8B030D-6E8A-4147-A177-3AD203B41FA5}">
                          <a16:colId xmlns:a16="http://schemas.microsoft.com/office/drawing/2014/main" val="1891207052"/>
                        </a:ext>
                      </a:extLst>
                    </a:gridCol>
                  </a:tblGrid>
                  <a:tr h="640862"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Feedback (R29)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How It Works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What It Does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Instruction Format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Instruction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575850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None (always succeeds).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R(RD) = M(sext(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r>
                            <a:rPr lang="en-US" sz="1200" dirty="0">
                              <a:effectLst/>
                            </a:rPr>
                            <a:t>) + R(RS1)), reserves address in </a:t>
                          </a:r>
                          <a:r>
                            <a:rPr lang="en-US" sz="1200" dirty="0" err="1">
                              <a:effectLst/>
                            </a:rPr>
                            <a:t>SyncBox</a:t>
                          </a:r>
                          <a:r>
                            <a:rPr lang="en-US" sz="1200" dirty="0">
                              <a:effectLst/>
                            </a:rPr>
                            <a:t> and sets Valid=1.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effectLst/>
                            </a:rPr>
                            <a:t>Loads value from memory and reserves the address for atomic use.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LR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LR (Load-Reserved)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41890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If Valid=1 and address matches: M(sext(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r>
                            <a:rPr lang="en-US" sz="1200" dirty="0">
                              <a:effectLst/>
                            </a:rPr>
                            <a:t>) + R(RS1)) = R(RD); else doesn't store.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Stores value if the valid reservation address matches external memory destination address.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SC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SC (Store-Conditional)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100527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dirty="0">
                              <a:effectLst/>
                            </a:rPr>
                            <a:t>M(sext(imm) + R(RS1))</a:t>
                          </a:r>
                          <a14:m>
                            <m:oMath xmlns:m="http://schemas.openxmlformats.org/officeDocument/2006/math">
                              <m:r>
                                <a:rPr lang="pt-BR" sz="1600" b="1" i="1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↔</m:t>
                              </m:r>
                            </m:oMath>
                          </a14:m>
                          <a:r>
                            <a:rPr lang="pt-BR" sz="1200" dirty="0">
                              <a:effectLst/>
                            </a:rPr>
                            <a:t> R(RD)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Atomically swaps register and memory values.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SWAP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SWAP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434201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dirty="0">
                              <a:effectLst/>
                            </a:rPr>
                            <a:t>M(sext(imm) + R(RS1))+=R(</a:t>
                          </a:r>
                          <a:r>
                            <a:rPr lang="en-US" sz="1200" dirty="0">
                              <a:effectLst/>
                            </a:rPr>
                            <a:t>RD)</a:t>
                          </a:r>
                          <a:r>
                            <a:rPr lang="pt-BR" sz="1200" dirty="0">
                              <a:effectLst/>
                            </a:rPr>
                            <a:t>)</a:t>
                          </a:r>
                          <a:endParaRPr lang="he-IL" sz="1200" dirty="0">
                            <a:effectLst/>
                          </a:endParaRPr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rgbClr val="FF0000"/>
                              </a:solidFill>
                              <a:effectLst/>
                            </a:rPr>
                            <a:t>R30 also saves this new value</a:t>
                          </a:r>
                          <a:endParaRPr lang="pt-BR" sz="1200" b="0" dirty="0">
                            <a:solidFill>
                              <a:srgbClr val="FF0000"/>
                            </a:solidFill>
                            <a:effectLst/>
                          </a:endParaRPr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dirty="0">
                              <a:effectLst/>
                            </a:rPr>
                            <a:t> </a:t>
                          </a:r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Atomically adds a value to memory.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AMOADD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AMOADD (Atomic Add)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01475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טבלה 3">
                <a:extLst>
                  <a:ext uri="{FF2B5EF4-FFF2-40B4-BE49-F238E27FC236}">
                    <a16:creationId xmlns:a16="http://schemas.microsoft.com/office/drawing/2014/main" id="{195E439F-C11E-A62B-F9A9-0DAC10E2AD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71763691"/>
                  </p:ext>
                </p:extLst>
              </p:nvPr>
            </p:nvGraphicFramePr>
            <p:xfrm>
              <a:off x="60960" y="2623250"/>
              <a:ext cx="11933520" cy="3965718"/>
            </p:xfrm>
            <a:graphic>
              <a:graphicData uri="http://schemas.openxmlformats.org/drawingml/2006/table">
                <a:tbl>
                  <a:tblPr rtl="1" firstRow="1" bandRow="1">
                    <a:tableStyleId>{9D7B26C5-4107-4FEC-AEDC-1716B250A1EF}</a:tableStyleId>
                  </a:tblPr>
                  <a:tblGrid>
                    <a:gridCol w="1754106">
                      <a:extLst>
                        <a:ext uri="{9D8B030D-6E8A-4147-A177-3AD203B41FA5}">
                          <a16:colId xmlns:a16="http://schemas.microsoft.com/office/drawing/2014/main" val="2736230435"/>
                        </a:ext>
                      </a:extLst>
                    </a:gridCol>
                    <a:gridCol w="4459908">
                      <a:extLst>
                        <a:ext uri="{9D8B030D-6E8A-4147-A177-3AD203B41FA5}">
                          <a16:colId xmlns:a16="http://schemas.microsoft.com/office/drawing/2014/main" val="4015550440"/>
                        </a:ext>
                      </a:extLst>
                    </a:gridCol>
                    <a:gridCol w="2295862">
                      <a:extLst>
                        <a:ext uri="{9D8B030D-6E8A-4147-A177-3AD203B41FA5}">
                          <a16:colId xmlns:a16="http://schemas.microsoft.com/office/drawing/2014/main" val="1124513892"/>
                        </a:ext>
                      </a:extLst>
                    </a:gridCol>
                    <a:gridCol w="1688198">
                      <a:extLst>
                        <a:ext uri="{9D8B030D-6E8A-4147-A177-3AD203B41FA5}">
                          <a16:colId xmlns:a16="http://schemas.microsoft.com/office/drawing/2014/main" val="8162398"/>
                        </a:ext>
                      </a:extLst>
                    </a:gridCol>
                    <a:gridCol w="1735446">
                      <a:extLst>
                        <a:ext uri="{9D8B030D-6E8A-4147-A177-3AD203B41FA5}">
                          <a16:colId xmlns:a16="http://schemas.microsoft.com/office/drawing/2014/main" val="1891207052"/>
                        </a:ext>
                      </a:extLst>
                    </a:gridCol>
                  </a:tblGrid>
                  <a:tr h="640862"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Feedback (R29)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How It Works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What It Does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Instruction Format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Instruction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575850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None (always succeeds).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R(RD) = M(sext(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r>
                            <a:rPr lang="en-US" sz="1200" dirty="0">
                              <a:effectLst/>
                            </a:rPr>
                            <a:t>) + R(RS1)), reserves address in </a:t>
                          </a:r>
                          <a:r>
                            <a:rPr lang="en-US" sz="1200" dirty="0" err="1">
                              <a:effectLst/>
                            </a:rPr>
                            <a:t>SyncBox</a:t>
                          </a:r>
                          <a:r>
                            <a:rPr lang="en-US" sz="1200" dirty="0">
                              <a:effectLst/>
                            </a:rPr>
                            <a:t> and sets Valid=1.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>
                              <a:effectLst/>
                            </a:rPr>
                            <a:t>Loads value from memory and reserves the address for atomic use.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LR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LR (Load-Reserved)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241890"/>
                      </a:ext>
                    </a:extLst>
                  </a:tr>
                  <a:tr h="99222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If Valid=1 and address matches: M(sext(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r>
                            <a:rPr lang="en-US" sz="1200" dirty="0">
                              <a:effectLst/>
                            </a:rPr>
                            <a:t>) + R(RS1)) = R(RD); else doesn't store.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Stores value if the valid reservation address matches external memory destination address.</a:t>
                          </a: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SC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SC (Store-Conditional)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100527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17" t="-312598" r="-128415" b="-102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Atomically swaps register and memory values.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SWAP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SWAP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434201"/>
                      </a:ext>
                    </a:extLst>
                  </a:tr>
                  <a:tr h="777544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1 (success), 0 (failure).</a:t>
                          </a:r>
                        </a:p>
                        <a:p>
                          <a:pPr algn="l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dirty="0">
                              <a:effectLst/>
                            </a:rPr>
                            <a:t>M(sext(imm) + R(RS1))+=R(</a:t>
                          </a:r>
                          <a:r>
                            <a:rPr lang="en-US" sz="1200" dirty="0">
                              <a:effectLst/>
                            </a:rPr>
                            <a:t>RD)</a:t>
                          </a:r>
                          <a:r>
                            <a:rPr lang="pt-BR" sz="1200" dirty="0">
                              <a:effectLst/>
                            </a:rPr>
                            <a:t>)</a:t>
                          </a:r>
                          <a:endParaRPr lang="he-IL" sz="1200" dirty="0">
                            <a:effectLst/>
                          </a:endParaRPr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dirty="0">
                              <a:solidFill>
                                <a:srgbClr val="FF0000"/>
                              </a:solidFill>
                              <a:effectLst/>
                            </a:rPr>
                            <a:t>R30 also saves this new value</a:t>
                          </a:r>
                          <a:endParaRPr lang="pt-BR" sz="1200" b="0" dirty="0">
                            <a:solidFill>
                              <a:srgbClr val="FF0000"/>
                            </a:solidFill>
                            <a:effectLst/>
                          </a:endParaRPr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200" dirty="0">
                              <a:effectLst/>
                            </a:rPr>
                            <a:t> </a:t>
                          </a:r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Atomically adds a value to memory.</a:t>
                          </a:r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>
                              <a:effectLst/>
                            </a:rPr>
                            <a:t>AMOADD RD RS1 </a:t>
                          </a:r>
                          <a:r>
                            <a:rPr lang="en-US" sz="1200" dirty="0" err="1">
                              <a:effectLst/>
                            </a:rPr>
                            <a:t>imm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algn="ctr" rtl="1"/>
                          <a:endParaRPr lang="he-IL" sz="1200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>
                              <a:effectLst/>
                            </a:rPr>
                            <a:t>AMOADD (Atomic Add)</a:t>
                          </a:r>
                        </a:p>
                        <a:p>
                          <a:pPr algn="l" rtl="1"/>
                          <a:endParaRPr lang="he-IL" sz="1200" b="1" dirty="0"/>
                        </a:p>
                      </a:txBody>
                      <a:tcPr marL="77823" marR="77823" marT="38912" marB="38912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01475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FE88332-BE93-69D8-834C-DB82BD118ACC}"/>
              </a:ext>
            </a:extLst>
          </p:cNvPr>
          <p:cNvSpPr txBox="1"/>
          <p:nvPr/>
        </p:nvSpPr>
        <p:spPr>
          <a:xfrm>
            <a:off x="568960" y="20489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u="sng" dirty="0">
                <a:effectLst/>
              </a:rPr>
              <a:t>The instructions we implemented are:</a:t>
            </a:r>
            <a:endParaRPr lang="LID4096" sz="1600" b="1" u="sng" dirty="0"/>
          </a:p>
        </p:txBody>
      </p:sp>
    </p:spTree>
    <p:extLst>
      <p:ext uri="{BB962C8B-B14F-4D97-AF65-F5344CB8AC3E}">
        <p14:creationId xmlns:p14="http://schemas.microsoft.com/office/powerpoint/2010/main" val="426238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58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F0C94261-04ED-63F8-C631-68CADD80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989" y="1023435"/>
            <a:ext cx="6097238" cy="1128068"/>
          </a:xfrm>
        </p:spPr>
        <p:txBody>
          <a:bodyPr anchor="ctr">
            <a:normAutofit fontScale="90000"/>
          </a:bodyPr>
          <a:lstStyle/>
          <a:p>
            <a:r>
              <a:rPr lang="en-US" sz="3700" dirty="0">
                <a:effectLst/>
              </a:rPr>
              <a:t>Implementation-</a:t>
            </a:r>
            <a:r>
              <a:rPr lang="en-US" sz="3700" dirty="0" err="1">
                <a:effectLst/>
              </a:rPr>
              <a:t>SyncBox</a:t>
            </a:r>
            <a:r>
              <a:rPr lang="en-US" sz="3700" dirty="0">
                <a:effectLst/>
              </a:rPr>
              <a:t> Design</a:t>
            </a:r>
            <a:br>
              <a:rPr lang="en-US" sz="3700" dirty="0">
                <a:effectLst/>
              </a:rPr>
            </a:br>
            <a:endParaRPr lang="he-IL" sz="3700" dirty="0"/>
          </a:p>
        </p:txBody>
      </p:sp>
      <p:grpSp>
        <p:nvGrpSpPr>
          <p:cNvPr id="2066" name="Group 206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41E94BF-A347-EE53-40BA-CDF8DC101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248" y="2331720"/>
            <a:ext cx="5575239" cy="3927348"/>
          </a:xfrm>
        </p:spPr>
        <p:txBody>
          <a:bodyPr anchor="ctr">
            <a:normAutofit fontScale="70000" lnSpcReduction="20000"/>
          </a:bodyPr>
          <a:lstStyle/>
          <a:p>
            <a:pPr algn="l" rtl="0"/>
            <a:r>
              <a:rPr lang="en-US" sz="2000" dirty="0"/>
              <a:t>A hardware unit that manages access to the external memory between P0 and P1 (using a mux and its output signals).</a:t>
            </a:r>
          </a:p>
          <a:p>
            <a:pPr algn="l" rtl="0"/>
            <a:r>
              <a:rPr lang="en-US" sz="2000" dirty="0"/>
              <a:t>Data </a:t>
            </a:r>
            <a:r>
              <a:rPr lang="en-US" sz="2000" dirty="0">
                <a:effectLst/>
              </a:rPr>
              <a:t>path containing MAR table (reservation addresses table) and Validity table (tell which reservations are valid)</a:t>
            </a:r>
          </a:p>
          <a:p>
            <a:pPr algn="l" rtl="0"/>
            <a:r>
              <a:rPr lang="en-US" sz="2000" dirty="0"/>
              <a:t>Utilizes a finite control state machine, which helps to coordinate how the two DLX cores access the shared memory.</a:t>
            </a:r>
          </a:p>
          <a:p>
            <a:pPr marL="0" indent="0" algn="l" rtl="0">
              <a:buNone/>
            </a:pPr>
            <a:endParaRPr lang="en-US" sz="2000" b="1" dirty="0"/>
          </a:p>
          <a:p>
            <a:pPr marL="0" indent="0" algn="l" rtl="0">
              <a:buNone/>
            </a:pPr>
            <a:r>
              <a:rPr lang="en-US" sz="2000" b="1" dirty="0"/>
              <a:t>FSM States Roles</a:t>
            </a:r>
            <a:endParaRPr lang="en-US" sz="2000" dirty="0"/>
          </a:p>
          <a:p>
            <a:pPr algn="l" rtl="0"/>
            <a:r>
              <a:rPr lang="en-US" sz="2000" b="1" dirty="0"/>
              <a:t>IDLE</a:t>
            </a:r>
            <a:r>
              <a:rPr lang="en-US" sz="2000" dirty="0"/>
              <a:t> – No requests pending; system is waiting.</a:t>
            </a:r>
          </a:p>
          <a:p>
            <a:pPr algn="l" rtl="0"/>
            <a:r>
              <a:rPr lang="en-US" sz="2000" b="1" dirty="0"/>
              <a:t>VALIDATE</a:t>
            </a:r>
            <a:r>
              <a:rPr lang="en-US" sz="2000" dirty="0"/>
              <a:t> – Check requests and decide which core(s) will run.</a:t>
            </a:r>
          </a:p>
          <a:p>
            <a:pPr algn="l" rtl="0"/>
            <a:r>
              <a:rPr lang="en-US" sz="2000" b="1" dirty="0"/>
              <a:t>P0_ONLY_WAIT</a:t>
            </a:r>
            <a:r>
              <a:rPr lang="en-US" sz="2000" dirty="0"/>
              <a:t> – Core 0 is using memory; FSM waits until it’s done.</a:t>
            </a:r>
          </a:p>
          <a:p>
            <a:pPr algn="l" rtl="0"/>
            <a:r>
              <a:rPr lang="en-US" sz="2000" b="1" dirty="0"/>
              <a:t>P1_ONLY_WAIT</a:t>
            </a:r>
            <a:r>
              <a:rPr lang="en-US" sz="2000" dirty="0"/>
              <a:t> – Core 1 is using memory; FSM waits until it’s done.</a:t>
            </a:r>
          </a:p>
          <a:p>
            <a:pPr algn="l" rtl="0"/>
            <a:r>
              <a:rPr lang="en-US" sz="2000" b="1" dirty="0"/>
              <a:t>BOTH_WAIT_P0</a:t>
            </a:r>
            <a:r>
              <a:rPr lang="en-US" sz="2000" dirty="0"/>
              <a:t> – Both asked at once → serve Core 0 first.</a:t>
            </a:r>
          </a:p>
          <a:p>
            <a:pPr algn="l" rtl="0"/>
            <a:r>
              <a:rPr lang="en-US" sz="2000" b="1" dirty="0"/>
              <a:t>BOTH_WAIT_P1</a:t>
            </a:r>
            <a:r>
              <a:rPr lang="en-US" sz="2000" dirty="0"/>
              <a:t> – Then serve Core 1, and return to IDLE.</a:t>
            </a: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תמונה שמכילה טקסט, תרשים, קו, תוכנ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7DEBD85-2EEF-1D35-7E68-CE52E57049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8" t="2995" r="2454" b="4038"/>
          <a:stretch>
            <a:fillRect/>
          </a:stretch>
        </p:blipFill>
        <p:spPr bwMode="auto">
          <a:xfrm>
            <a:off x="7419023" y="3707248"/>
            <a:ext cx="3855513" cy="272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2.png">
            <a:extLst>
              <a:ext uri="{FF2B5EF4-FFF2-40B4-BE49-F238E27FC236}">
                <a16:creationId xmlns:a16="http://schemas.microsoft.com/office/drawing/2014/main" id="{2C229D07-B48F-FCD9-5C20-C30DF018C5E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9023" y="356812"/>
            <a:ext cx="3459480" cy="2900045"/>
          </a:xfrm>
          <a:prstGeom prst="rect">
            <a:avLst/>
          </a:prstGeom>
          <a:ln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4ED5D5-5A66-0CB7-11E8-A984372AD923}"/>
              </a:ext>
            </a:extLst>
          </p:cNvPr>
          <p:cNvSpPr txBox="1"/>
          <p:nvPr/>
        </p:nvSpPr>
        <p:spPr>
          <a:xfrm>
            <a:off x="8023519" y="132367"/>
            <a:ext cx="2068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u="sng" dirty="0"/>
              <a:t>Syncbox’s data-path</a:t>
            </a:r>
            <a:endParaRPr lang="LID4096" sz="16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C4074-7D67-CF5F-3B8B-E60C42592153}"/>
              </a:ext>
            </a:extLst>
          </p:cNvPr>
          <p:cNvSpPr txBox="1"/>
          <p:nvPr/>
        </p:nvSpPr>
        <p:spPr>
          <a:xfrm>
            <a:off x="7491338" y="3411596"/>
            <a:ext cx="3299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u="sng" dirty="0"/>
              <a:t>Syncbox’s control state machine</a:t>
            </a:r>
            <a:endParaRPr lang="LID4096" sz="1600" b="1" u="sng" dirty="0"/>
          </a:p>
        </p:txBody>
      </p:sp>
    </p:spTree>
    <p:extLst>
      <p:ext uri="{BB962C8B-B14F-4D97-AF65-F5344CB8AC3E}">
        <p14:creationId xmlns:p14="http://schemas.microsoft.com/office/powerpoint/2010/main" val="1754562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7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AE666059-67CA-0E1B-1A43-FA8027DF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57" y="55258"/>
            <a:ext cx="11454594" cy="1298448"/>
          </a:xfrm>
        </p:spPr>
        <p:txBody>
          <a:bodyPr anchor="b">
            <a:normAutofit/>
          </a:bodyPr>
          <a:lstStyle/>
          <a:p>
            <a:pPr algn="ctr" rtl="0"/>
            <a:r>
              <a:rPr lang="en-US" dirty="0"/>
              <a:t>Implementation=Cores’ Control State Machine</a:t>
            </a:r>
            <a:br>
              <a:rPr lang="en-US" dirty="0"/>
            </a:br>
            <a:endParaRPr lang="he-IL" dirty="0"/>
          </a:p>
        </p:txBody>
      </p:sp>
      <p:sp>
        <p:nvSpPr>
          <p:cNvPr id="3087" name="Rectangle 308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8" name="Rectangle 308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C6CC125-A7A2-7664-DE21-6C193719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5154" y="713098"/>
            <a:ext cx="4530898" cy="1489981"/>
          </a:xfrm>
        </p:spPr>
        <p:txBody>
          <a:bodyPr anchor="ctr">
            <a:normAutofit/>
          </a:bodyPr>
          <a:lstStyle/>
          <a:p>
            <a:pPr rtl="0"/>
            <a:endParaRPr lang="en-US" sz="1100" dirty="0"/>
          </a:p>
          <a:p>
            <a:pPr marL="0" indent="0" rtl="0">
              <a:buNone/>
            </a:pPr>
            <a:endParaRPr lang="he-IL" sz="1100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F5494-5412-D8FB-B7A4-FBEFCBA13AA8}"/>
              </a:ext>
            </a:extLst>
          </p:cNvPr>
          <p:cNvSpPr txBox="1"/>
          <p:nvPr/>
        </p:nvSpPr>
        <p:spPr>
          <a:xfrm>
            <a:off x="-27583" y="2168943"/>
            <a:ext cx="11570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1200" b="1" u="sng" dirty="0"/>
              <a:t>Added States: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b="1" dirty="0"/>
              <a:t>CHECK_WBA_29</a:t>
            </a:r>
            <a:r>
              <a:rPr lang="en-US" sz="1200" dirty="0"/>
              <a:t>: waiting instruction success/failure feedback from </a:t>
            </a:r>
            <a:r>
              <a:rPr lang="en-US" sz="1200" dirty="0" err="1"/>
              <a:t>SyncBox</a:t>
            </a:r>
            <a:r>
              <a:rPr lang="en-US" sz="1200" dirty="0"/>
              <a:t>. help sets what value 1 (success) or 0 (failure) will be written to R29 based  on </a:t>
            </a:r>
            <a:r>
              <a:rPr lang="en-US" sz="1200" dirty="0" err="1"/>
              <a:t>Syncbox’s</a:t>
            </a:r>
            <a:r>
              <a:rPr lang="en-US" sz="1200" dirty="0"/>
              <a:t> arbitration.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b="1" dirty="0"/>
              <a:t>ADO</a:t>
            </a:r>
            <a:r>
              <a:rPr lang="en-US" sz="1200" dirty="0"/>
              <a:t>: Performs the addition of the  AMOADD after both the register value and external memory value are accessible for him in order to compute their sum.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b="1" dirty="0"/>
              <a:t>WBA</a:t>
            </a:r>
            <a:r>
              <a:rPr lang="en-US" sz="1200" dirty="0"/>
              <a:t>: Write-Back Address phase, writes value loaded from external memory (in SWAP and SC) to an internal RAM register.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b="1" dirty="0"/>
              <a:t>WBA_30</a:t>
            </a:r>
            <a:r>
              <a:rPr lang="en-US" sz="1200" dirty="0"/>
              <a:t>:</a:t>
            </a:r>
            <a:r>
              <a:rPr lang="en-US" sz="1200" b="1" dirty="0"/>
              <a:t> </a:t>
            </a:r>
            <a:r>
              <a:rPr lang="en-US" sz="1200" dirty="0"/>
              <a:t>Write-Back phase for AMOADD, updates R30 with the new sum (which was also saved in the external memory).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52F594-4BB7-33AF-549B-B93A2C71CDE8}"/>
              </a:ext>
            </a:extLst>
          </p:cNvPr>
          <p:cNvSpPr txBox="1"/>
          <p:nvPr/>
        </p:nvSpPr>
        <p:spPr>
          <a:xfrm>
            <a:off x="187761" y="1006228"/>
            <a:ext cx="114311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400" b="1" dirty="0"/>
              <a:t>The DLX Control Unit Finite State Machine (FSM) manages instruction execution in each core, Original states are those of the simplified DLX.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400" b="1" dirty="0"/>
              <a:t>4 new states are added to support atomic instructions, both supporting new data operations and helping synchronization via </a:t>
            </a:r>
            <a:r>
              <a:rPr lang="en-US" sz="1400" b="1" dirty="0" err="1"/>
              <a:t>SyncBox</a:t>
            </a:r>
            <a:r>
              <a:rPr lang="en-US" sz="1400" b="1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48283C-8D7E-02AE-DD3B-FEF1ABBAE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104306"/>
            <a:ext cx="1086002" cy="733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C46C53-68F5-CF93-C5BA-CF02813CC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4" t="2930" r="1256" b="1713"/>
          <a:stretch>
            <a:fillRect/>
          </a:stretch>
        </p:blipFill>
        <p:spPr>
          <a:xfrm>
            <a:off x="775760" y="3369272"/>
            <a:ext cx="10607188" cy="3450191"/>
          </a:xfrm>
          <a:prstGeom prst="rect">
            <a:avLst/>
          </a:prstGeom>
        </p:spPr>
      </p:pic>
      <p:pic>
        <p:nvPicPr>
          <p:cNvPr id="13" name="image9.png" descr="תמונה שמכילה תרשים, תוכנית, טקסט, שרטוט טכנ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925A295-ACB9-3D20-6249-41056886B4BD}"/>
              </a:ext>
            </a:extLst>
          </p:cNvPr>
          <p:cNvPicPr/>
          <p:nvPr/>
        </p:nvPicPr>
        <p:blipFill>
          <a:blip r:embed="rId4"/>
          <a:srcRect l="11131" r="9966" b="11503"/>
          <a:stretch>
            <a:fillRect/>
          </a:stretch>
        </p:blipFill>
        <p:spPr>
          <a:xfrm rot="16200000">
            <a:off x="-112215" y="3642527"/>
            <a:ext cx="3348631" cy="297180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90740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100DB63-2456-0333-A9EB-9D7C8C747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25" y="176520"/>
            <a:ext cx="9833548" cy="1325563"/>
          </a:xfrm>
        </p:spPr>
        <p:txBody>
          <a:bodyPr anchor="b">
            <a:normAutofit/>
          </a:bodyPr>
          <a:lstStyle/>
          <a:p>
            <a:pPr algn="l" rtl="0"/>
            <a:r>
              <a:rPr lang="en-US" sz="3600" dirty="0">
                <a:solidFill>
                  <a:schemeClr val="tx2"/>
                </a:solidFill>
              </a:rPr>
              <a:t>Tools and Environment </a:t>
            </a:r>
            <a:br>
              <a:rPr lang="en-US" sz="3600" dirty="0">
                <a:solidFill>
                  <a:schemeClr val="tx2"/>
                </a:solidFill>
              </a:rPr>
            </a:br>
            <a:endParaRPr lang="he-IL" sz="3600" dirty="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B4B96A-00EE-615F-4DA9-087ACEB83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23" y="1187406"/>
            <a:ext cx="9833548" cy="4968949"/>
          </a:xfrm>
        </p:spPr>
        <p:txBody>
          <a:bodyPr>
            <a:normAutofit/>
          </a:bodyPr>
          <a:lstStyle/>
          <a:p>
            <a:pPr algn="l" rtl="0"/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Verilog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for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hardware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description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 (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Datapath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,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Control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Unit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, </a:t>
            </a:r>
            <a:r>
              <a:rPr lang="he-IL" altLang="he-IL" sz="2400" dirty="0" err="1">
                <a:solidFill>
                  <a:schemeClr val="tx2"/>
                </a:solidFill>
                <a:latin typeface="Arial" panose="020B0604020202020204" pitchFamily="34" charset="0"/>
              </a:rPr>
              <a:t>SyncBox</a:t>
            </a:r>
            <a:r>
              <a:rPr lang="he-IL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(</a:t>
            </a:r>
            <a:r>
              <a:rPr lang="en-US" altLang="he-IL" sz="2400" dirty="0">
                <a:solidFill>
                  <a:schemeClr val="tx2"/>
                </a:solidFill>
                <a:latin typeface="Arial" panose="020B0604020202020204" pitchFamily="34" charset="0"/>
              </a:rPr>
              <a:t>.</a:t>
            </a:r>
          </a:p>
          <a:p>
            <a:pPr algn="l" rtl="0"/>
            <a:r>
              <a:rPr lang="en-US" sz="2400" dirty="0" err="1">
                <a:solidFill>
                  <a:schemeClr val="tx2"/>
                </a:solidFill>
              </a:rPr>
              <a:t>ModelSim</a:t>
            </a:r>
            <a:r>
              <a:rPr lang="en-US" sz="2400" dirty="0">
                <a:solidFill>
                  <a:schemeClr val="tx2"/>
                </a:solidFill>
              </a:rPr>
              <a:t> for RTL simulation and debugging.</a:t>
            </a:r>
          </a:p>
          <a:p>
            <a:pPr algn="l" rtl="0"/>
            <a:r>
              <a:rPr lang="en-US" sz="2400" dirty="0">
                <a:solidFill>
                  <a:schemeClr val="tx2"/>
                </a:solidFill>
              </a:rPr>
              <a:t>Xilinx ISE for synthesis and Netlist generation(Verilog to logic gates mapping).</a:t>
            </a:r>
          </a:p>
          <a:p>
            <a:pPr algn="l" rtl="0"/>
            <a:r>
              <a:rPr lang="en-US" sz="2400" dirty="0">
                <a:solidFill>
                  <a:schemeClr val="tx2"/>
                </a:solidFill>
              </a:rPr>
              <a:t>RESA-2 for assembly code testing and </a:t>
            </a:r>
            <a:r>
              <a:rPr lang="fr-FR" sz="2400" dirty="0">
                <a:solidFill>
                  <a:schemeClr val="tx2"/>
                </a:solidFill>
              </a:rPr>
              <a:t>FPGA </a:t>
            </a:r>
            <a:r>
              <a:rPr lang="fr-FR" sz="2400" dirty="0" err="1">
                <a:solidFill>
                  <a:schemeClr val="tx2"/>
                </a:solidFill>
              </a:rPr>
              <a:t>emulation</a:t>
            </a:r>
            <a:r>
              <a:rPr lang="fr-FR" sz="2400" dirty="0">
                <a:solidFill>
                  <a:schemeClr val="tx2"/>
                </a:solidFill>
              </a:rPr>
              <a:t> on </a:t>
            </a:r>
            <a:r>
              <a:rPr lang="fr-FR" sz="2400" dirty="0" err="1">
                <a:solidFill>
                  <a:schemeClr val="tx2"/>
                </a:solidFill>
              </a:rPr>
              <a:t>Xilinx</a:t>
            </a:r>
            <a:r>
              <a:rPr lang="fr-FR" sz="2400" dirty="0">
                <a:solidFill>
                  <a:schemeClr val="tx2"/>
                </a:solidFill>
              </a:rPr>
              <a:t> Spartan-6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0" indent="0" algn="l" rtl="0">
              <a:buNone/>
            </a:pPr>
            <a:r>
              <a:rPr lang="en-US" sz="2400" i="1" dirty="0">
                <a:solidFill>
                  <a:schemeClr val="tx2"/>
                </a:solidFill>
              </a:rPr>
              <a:t>(Flowchart of implementation steps: Design → Simulation → Synthesis → Testing)</a:t>
            </a:r>
            <a:endParaRPr lang="en-US" sz="2400" dirty="0">
              <a:solidFill>
                <a:schemeClr val="tx2"/>
              </a:solidFill>
            </a:endParaRPr>
          </a:p>
          <a:p>
            <a:pPr marL="0" indent="0" algn="l" rtl="0">
              <a:buNone/>
            </a:pPr>
            <a:endParaRPr lang="en-US" sz="2400" dirty="0">
              <a:solidFill>
                <a:schemeClr val="tx2"/>
              </a:solidFill>
            </a:endParaRPr>
          </a:p>
          <a:p>
            <a:pPr marL="0" indent="0" algn="l" rtl="0">
              <a:buNone/>
            </a:pPr>
            <a:endParaRPr lang="he-IL" sz="24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מלבן 22">
            <a:extLst>
              <a:ext uri="{FF2B5EF4-FFF2-40B4-BE49-F238E27FC236}">
                <a16:creationId xmlns:a16="http://schemas.microsoft.com/office/drawing/2014/main" id="{7C6E9023-9872-6E25-DDCD-C59E4EC4C0CC}"/>
              </a:ext>
            </a:extLst>
          </p:cNvPr>
          <p:cNvSpPr/>
          <p:nvPr/>
        </p:nvSpPr>
        <p:spPr>
          <a:xfrm>
            <a:off x="10551167" y="176520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/>
              <a:t>Project Start </a:t>
            </a:r>
            <a:endParaRPr lang="he-IL" sz="1600" dirty="0"/>
          </a:p>
        </p:txBody>
      </p:sp>
      <p:cxnSp>
        <p:nvCxnSpPr>
          <p:cNvPr id="25" name="מחבר חץ ישר 24">
            <a:extLst>
              <a:ext uri="{FF2B5EF4-FFF2-40B4-BE49-F238E27FC236}">
                <a16:creationId xmlns:a16="http://schemas.microsoft.com/office/drawing/2014/main" id="{393DE1E6-6B8F-F0BD-BC4C-8641FD089A33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258241" y="864148"/>
            <a:ext cx="0" cy="45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מלבן 43">
            <a:extLst>
              <a:ext uri="{FF2B5EF4-FFF2-40B4-BE49-F238E27FC236}">
                <a16:creationId xmlns:a16="http://schemas.microsoft.com/office/drawing/2014/main" id="{2506588C-8FA8-6274-3C1C-6BE1B034ADDB}"/>
              </a:ext>
            </a:extLst>
          </p:cNvPr>
          <p:cNvSpPr/>
          <p:nvPr/>
        </p:nvSpPr>
        <p:spPr>
          <a:xfrm>
            <a:off x="10551167" y="1331754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dirty="0"/>
              <a:t>Write Verilog Code (Datapath, Control  Unit, </a:t>
            </a:r>
            <a:r>
              <a:rPr lang="en-US" sz="1200" dirty="0" err="1"/>
              <a:t>SyncBox</a:t>
            </a:r>
            <a:r>
              <a:rPr lang="en-US" sz="1200" dirty="0"/>
              <a:t>) </a:t>
            </a:r>
            <a:endParaRPr lang="he-IL" sz="1200" dirty="0"/>
          </a:p>
        </p:txBody>
      </p:sp>
      <p:cxnSp>
        <p:nvCxnSpPr>
          <p:cNvPr id="45" name="מחבר חץ ישר 44">
            <a:extLst>
              <a:ext uri="{FF2B5EF4-FFF2-40B4-BE49-F238E27FC236}">
                <a16:creationId xmlns:a16="http://schemas.microsoft.com/office/drawing/2014/main" id="{9AB78D95-009F-D74E-7D79-C8E13CC0D32F}"/>
              </a:ext>
            </a:extLst>
          </p:cNvPr>
          <p:cNvCxnSpPr>
            <a:cxnSpLocks/>
            <a:stCxn id="44" idx="2"/>
          </p:cNvCxnSpPr>
          <p:nvPr/>
        </p:nvCxnSpPr>
        <p:spPr>
          <a:xfrm>
            <a:off x="11258241" y="2019382"/>
            <a:ext cx="0" cy="45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מלבן 45">
            <a:extLst>
              <a:ext uri="{FF2B5EF4-FFF2-40B4-BE49-F238E27FC236}">
                <a16:creationId xmlns:a16="http://schemas.microsoft.com/office/drawing/2014/main" id="{049D9780-64E5-CBEC-97BC-E45C7A403896}"/>
              </a:ext>
            </a:extLst>
          </p:cNvPr>
          <p:cNvSpPr/>
          <p:nvPr/>
        </p:nvSpPr>
        <p:spPr>
          <a:xfrm>
            <a:off x="10551167" y="2486988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dirty="0"/>
              <a:t>Simulate with  </a:t>
            </a:r>
            <a:r>
              <a:rPr lang="en-US" sz="1200" dirty="0" err="1"/>
              <a:t>ModelSim</a:t>
            </a:r>
            <a:endParaRPr lang="he-IL" sz="1200" dirty="0"/>
          </a:p>
        </p:txBody>
      </p:sp>
      <p:cxnSp>
        <p:nvCxnSpPr>
          <p:cNvPr id="47" name="מחבר חץ ישר 46">
            <a:extLst>
              <a:ext uri="{FF2B5EF4-FFF2-40B4-BE49-F238E27FC236}">
                <a16:creationId xmlns:a16="http://schemas.microsoft.com/office/drawing/2014/main" id="{6120564D-AD0D-13EF-BBC2-D675756DB056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11258241" y="3174616"/>
            <a:ext cx="0" cy="45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מלבן 47">
            <a:extLst>
              <a:ext uri="{FF2B5EF4-FFF2-40B4-BE49-F238E27FC236}">
                <a16:creationId xmlns:a16="http://schemas.microsoft.com/office/drawing/2014/main" id="{23760CAF-CF75-E65D-9918-AC4337BFE948}"/>
              </a:ext>
            </a:extLst>
          </p:cNvPr>
          <p:cNvSpPr/>
          <p:nvPr/>
        </p:nvSpPr>
        <p:spPr>
          <a:xfrm>
            <a:off x="10596950" y="3646486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dirty="0"/>
              <a:t>Synthesize with  Xilinx</a:t>
            </a:r>
            <a:endParaRPr lang="he-IL" sz="1200" dirty="0"/>
          </a:p>
        </p:txBody>
      </p:sp>
      <p:cxnSp>
        <p:nvCxnSpPr>
          <p:cNvPr id="49" name="מחבר חץ ישר 48">
            <a:extLst>
              <a:ext uri="{FF2B5EF4-FFF2-40B4-BE49-F238E27FC236}">
                <a16:creationId xmlns:a16="http://schemas.microsoft.com/office/drawing/2014/main" id="{485160AF-5540-497C-FA73-D69844C22839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1304024" y="4334114"/>
            <a:ext cx="0" cy="45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מלבן 49">
            <a:extLst>
              <a:ext uri="{FF2B5EF4-FFF2-40B4-BE49-F238E27FC236}">
                <a16:creationId xmlns:a16="http://schemas.microsoft.com/office/drawing/2014/main" id="{BB4E4BD3-0632-9EE8-A20E-3382E64CF169}"/>
              </a:ext>
            </a:extLst>
          </p:cNvPr>
          <p:cNvSpPr/>
          <p:nvPr/>
        </p:nvSpPr>
        <p:spPr>
          <a:xfrm>
            <a:off x="10596950" y="4805984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/>
              <a:t>Emulate with RESA-2</a:t>
            </a:r>
            <a:endParaRPr lang="he-IL" sz="1200"/>
          </a:p>
        </p:txBody>
      </p:sp>
      <p:cxnSp>
        <p:nvCxnSpPr>
          <p:cNvPr id="51" name="מחבר חץ ישר 50">
            <a:extLst>
              <a:ext uri="{FF2B5EF4-FFF2-40B4-BE49-F238E27FC236}">
                <a16:creationId xmlns:a16="http://schemas.microsoft.com/office/drawing/2014/main" id="{2C40EE4A-86E9-ABC1-B249-0C8CDBA938B8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11304024" y="5493612"/>
            <a:ext cx="0" cy="455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מלבן 51">
            <a:extLst>
              <a:ext uri="{FF2B5EF4-FFF2-40B4-BE49-F238E27FC236}">
                <a16:creationId xmlns:a16="http://schemas.microsoft.com/office/drawing/2014/main" id="{CA140D9A-6BB2-ED22-0E86-FAE697145CF9}"/>
              </a:ext>
            </a:extLst>
          </p:cNvPr>
          <p:cNvSpPr/>
          <p:nvPr/>
        </p:nvSpPr>
        <p:spPr>
          <a:xfrm>
            <a:off x="10596950" y="5935018"/>
            <a:ext cx="1414148" cy="6876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600" dirty="0"/>
              <a:t>Final Validation</a:t>
            </a:r>
            <a:endParaRPr lang="he-IL" sz="1600" dirty="0"/>
          </a:p>
        </p:txBody>
      </p:sp>
    </p:spTree>
    <p:extLst>
      <p:ext uri="{BB962C8B-B14F-4D97-AF65-F5344CB8AC3E}">
        <p14:creationId xmlns:p14="http://schemas.microsoft.com/office/powerpoint/2010/main" val="404493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B2F1B3-DA51-8BF2-6EC8-5792004A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308038"/>
            <a:ext cx="10515600" cy="1325563"/>
          </a:xfrm>
        </p:spPr>
        <p:txBody>
          <a:bodyPr/>
          <a:lstStyle/>
          <a:p>
            <a:pPr algn="l" rtl="0"/>
            <a:r>
              <a:rPr lang="en-US" dirty="0"/>
              <a:t>Simulation Environment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3119555-C3CD-3283-4CB0-58BB455D6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163549"/>
            <a:ext cx="12110884" cy="1325563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dirty="0"/>
              <a:t>We used </a:t>
            </a:r>
            <a:r>
              <a:rPr lang="en-US" sz="2400" dirty="0" err="1"/>
              <a:t>ModelSim’s</a:t>
            </a:r>
            <a:r>
              <a:rPr lang="en-US" sz="2400" dirty="0"/>
              <a:t> waveforms for functional validation of the cores’ signals, and register tables for internal Rams and external memory simulation  for clear and simple check.</a:t>
            </a:r>
          </a:p>
          <a:p>
            <a:pPr marL="0" indent="0" algn="l" rtl="0">
              <a:buNone/>
            </a:pPr>
            <a:r>
              <a:rPr lang="en-US" sz="2400" dirty="0"/>
              <a:t>Helped ensure correctness before hardware deployment.</a:t>
            </a:r>
          </a:p>
          <a:p>
            <a:pPr marL="0" indent="0" algn="l" rtl="0">
              <a:buNone/>
            </a:pPr>
            <a:endParaRPr lang="en-US" sz="2400" dirty="0"/>
          </a:p>
          <a:p>
            <a:pPr algn="l" rtl="0"/>
            <a:endParaRPr lang="he-I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3F5E2-FA76-23F4-CACF-5363EB5B2981}"/>
              </a:ext>
            </a:extLst>
          </p:cNvPr>
          <p:cNvSpPr txBox="1"/>
          <p:nvPr/>
        </p:nvSpPr>
        <p:spPr>
          <a:xfrm>
            <a:off x="0" y="2662917"/>
            <a:ext cx="7456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u="sng" dirty="0"/>
              <a:t>We verified all edge cases work — important selected few are:</a:t>
            </a:r>
            <a:endParaRPr lang="LID4096" b="1" u="sn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38D491-5569-2FD6-75B8-FDA15A6C9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695559"/>
              </p:ext>
            </p:extLst>
          </p:nvPr>
        </p:nvGraphicFramePr>
        <p:xfrm>
          <a:off x="117987" y="3206054"/>
          <a:ext cx="12005187" cy="33439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42681">
                  <a:extLst>
                    <a:ext uri="{9D8B030D-6E8A-4147-A177-3AD203B41FA5}">
                      <a16:colId xmlns:a16="http://schemas.microsoft.com/office/drawing/2014/main" val="2404601804"/>
                    </a:ext>
                  </a:extLst>
                </a:gridCol>
                <a:gridCol w="7062506">
                  <a:extLst>
                    <a:ext uri="{9D8B030D-6E8A-4147-A177-3AD203B41FA5}">
                      <a16:colId xmlns:a16="http://schemas.microsoft.com/office/drawing/2014/main" val="1812666672"/>
                    </a:ext>
                  </a:extLst>
                </a:gridCol>
              </a:tblGrid>
              <a:tr h="599412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</a:rPr>
                        <a:t>Scenario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</a:rPr>
                        <a:t>What We Verified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179421"/>
                  </a:ext>
                </a:extLst>
              </a:tr>
              <a:tr h="42890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Both cores perform LR on the same address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Each core got its own reservation; stayed valid until SC or a write.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6596707"/>
                  </a:ext>
                </a:extLst>
              </a:tr>
              <a:tr h="42890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SC after valid LR (success case)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SC succeeded when the reservation was still valid and correctly updated memory.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7384474"/>
                  </a:ext>
                </a:extLst>
              </a:tr>
              <a:tr h="778635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Both cores perform SC / AMOADD / SWAP to the same address (same cycle)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dirty="0">
                          <a:effectLst/>
                        </a:rPr>
                        <a:t>Both cores issued valid SC, AMOADD, or SWAP to the same address in the same cycle — P0 succeeds, P1’s operation fails with no corruption.</a:t>
                      </a:r>
                      <a:endParaRPr lang="en-U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31786023"/>
                  </a:ext>
                </a:extLst>
              </a:tr>
              <a:tr h="42890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SC / AMOADD / SWAP to the reserved address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Clears reservations for any core by any core — any write to the reserved address cancels all reservations to it.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3320958"/>
                  </a:ext>
                </a:extLst>
              </a:tr>
              <a:tr h="428907"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SC / AMOADD / SWAP to a different address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Verified that when any of the three targeted a different address than the reserved one, the original reservation stayed valid.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3160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34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D898BCF-F343-2E00-3435-B1825F9B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87" y="65736"/>
            <a:ext cx="10508226" cy="564962"/>
          </a:xfrm>
        </p:spPr>
        <p:txBody>
          <a:bodyPr>
            <a:normAutofit/>
          </a:bodyPr>
          <a:lstStyle/>
          <a:p>
            <a:pPr algn="l" rtl="0"/>
            <a:r>
              <a:rPr lang="en-US" sz="2800" b="1" u="sng" dirty="0"/>
              <a:t>Test scenario: Parallel LR/SC on the Same Memory Address</a:t>
            </a:r>
            <a:endParaRPr lang="he-IL" sz="2800" b="1" u="sng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DCA1214-2CAF-BB25-693D-989CD462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91" y="974599"/>
            <a:ext cx="10823418" cy="5344720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br>
              <a:rPr lang="en-US" dirty="0"/>
            </a:b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ctr" rtl="0">
              <a:buNone/>
            </a:pPr>
            <a:endParaRPr lang="en-US" sz="1800" dirty="0"/>
          </a:p>
          <a:p>
            <a:pPr marL="0" indent="0" algn="ctr" rtl="0">
              <a:buNone/>
            </a:pPr>
            <a:endParaRPr lang="en-US" sz="1800" dirty="0"/>
          </a:p>
          <a:p>
            <a:pPr marL="0" indent="0" algn="ctr" rtl="0">
              <a:buNone/>
            </a:pPr>
            <a:r>
              <a:rPr lang="en-US" sz="1800" dirty="0"/>
              <a:t>                                         </a:t>
            </a:r>
            <a:br>
              <a:rPr lang="en-US" sz="1800" dirty="0"/>
            </a:br>
            <a:endParaRPr lang="en-US" sz="1800" dirty="0"/>
          </a:p>
          <a:p>
            <a:pPr marL="0" indent="0" algn="l" rtl="0">
              <a:buNone/>
            </a:pPr>
            <a:r>
              <a:rPr lang="en-US" sz="2000" dirty="0"/>
              <a:t>                                                                                                                                   </a:t>
            </a:r>
            <a:r>
              <a:rPr lang="en-US" sz="1600" dirty="0"/>
              <a:t> </a:t>
            </a:r>
            <a:endParaRPr lang="en-US" sz="2000" dirty="0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4BF85736-57F4-9FD9-1001-CBD013B02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439" y="1088600"/>
            <a:ext cx="2501711" cy="652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56F195AD-F93E-69D3-2FDB-A8384F919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858" y="1154824"/>
            <a:ext cx="2727802" cy="579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0C365C8-ABB9-50BD-64DC-D26F965EA4A8}"/>
              </a:ext>
            </a:extLst>
          </p:cNvPr>
          <p:cNvSpPr txBox="1"/>
          <p:nvPr/>
        </p:nvSpPr>
        <p:spPr>
          <a:xfrm>
            <a:off x="564310" y="2476642"/>
            <a:ext cx="10677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l" rtl="0">
              <a:spcAft>
                <a:spcPts val="800"/>
              </a:spcAft>
              <a:buNone/>
            </a:pPr>
            <a:br>
              <a:rPr lang="en-US" sz="1400" dirty="0"/>
            </a:br>
            <a:endParaRPr lang="en-US" sz="1400" dirty="0"/>
          </a:p>
        </p:txBody>
      </p:sp>
      <p:pic>
        <p:nvPicPr>
          <p:cNvPr id="4108" name="Picture 12">
            <a:extLst>
              <a:ext uri="{FF2B5EF4-FFF2-40B4-BE49-F238E27FC236}">
                <a16:creationId xmlns:a16="http://schemas.microsoft.com/office/drawing/2014/main" id="{44B97A81-59BB-7057-8EB5-8CAD0C68A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798" y="1972111"/>
            <a:ext cx="5210175" cy="3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>
            <a:extLst>
              <a:ext uri="{FF2B5EF4-FFF2-40B4-BE49-F238E27FC236}">
                <a16:creationId xmlns:a16="http://schemas.microsoft.com/office/drawing/2014/main" id="{6A9447A2-61E0-5EA6-7880-782343DE9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518" y="2852807"/>
            <a:ext cx="1810787" cy="634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>
            <a:extLst>
              <a:ext uri="{FF2B5EF4-FFF2-40B4-BE49-F238E27FC236}">
                <a16:creationId xmlns:a16="http://schemas.microsoft.com/office/drawing/2014/main" id="{A517DA71-3266-F3A8-9555-AB3263BAA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36" y="2852807"/>
            <a:ext cx="2034489" cy="63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110C249C-E5A3-4875-6C91-F774DB71F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541" y="4128555"/>
            <a:ext cx="1733550" cy="39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9D6DC4DB-4CA0-E54C-28B3-797B65877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8899" y="4100402"/>
            <a:ext cx="781050" cy="37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>
            <a:extLst>
              <a:ext uri="{FF2B5EF4-FFF2-40B4-BE49-F238E27FC236}">
                <a16:creationId xmlns:a16="http://schemas.microsoft.com/office/drawing/2014/main" id="{6E7036A7-F6B4-7912-2FF0-322D27DF1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8363" y="5164194"/>
            <a:ext cx="5278522" cy="40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30">
            <a:extLst>
              <a:ext uri="{FF2B5EF4-FFF2-40B4-BE49-F238E27FC236}">
                <a16:creationId xmlns:a16="http://schemas.microsoft.com/office/drawing/2014/main" id="{457CC53B-59E2-5753-6576-B9C45556A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88" y="5639290"/>
            <a:ext cx="8609005" cy="47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0" name="Picture 34">
            <a:extLst>
              <a:ext uri="{FF2B5EF4-FFF2-40B4-BE49-F238E27FC236}">
                <a16:creationId xmlns:a16="http://schemas.microsoft.com/office/drawing/2014/main" id="{8D4718D4-CFEF-CA96-09C2-26E23B20E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88" y="6166668"/>
            <a:ext cx="8669014" cy="45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2" name="Picture 36">
            <a:extLst>
              <a:ext uri="{FF2B5EF4-FFF2-40B4-BE49-F238E27FC236}">
                <a16:creationId xmlns:a16="http://schemas.microsoft.com/office/drawing/2014/main" id="{F04A76AE-CE90-88CC-29C1-46BCABD7B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601" y="5823286"/>
            <a:ext cx="1309352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EEF3D1E3-DD90-D14A-821B-BEB3929C2656}"/>
              </a:ext>
            </a:extLst>
          </p:cNvPr>
          <p:cNvSpPr/>
          <p:nvPr/>
        </p:nvSpPr>
        <p:spPr>
          <a:xfrm>
            <a:off x="9961755" y="2169727"/>
            <a:ext cx="650386" cy="183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41E6BBE-00EB-E05F-7C34-039EDB5F27C2}"/>
              </a:ext>
            </a:extLst>
          </p:cNvPr>
          <p:cNvSpPr/>
          <p:nvPr/>
        </p:nvSpPr>
        <p:spPr>
          <a:xfrm>
            <a:off x="4340250" y="3042068"/>
            <a:ext cx="650386" cy="1837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BBBDEA7C-9E98-C42D-C17C-1021BCE76C69}"/>
              </a:ext>
            </a:extLst>
          </p:cNvPr>
          <p:cNvSpPr/>
          <p:nvPr/>
        </p:nvSpPr>
        <p:spPr>
          <a:xfrm>
            <a:off x="8905376" y="3048935"/>
            <a:ext cx="717349" cy="1896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3C124548-75CD-33D5-049C-19AEDC529132}"/>
              </a:ext>
            </a:extLst>
          </p:cNvPr>
          <p:cNvSpPr/>
          <p:nvPr/>
        </p:nvSpPr>
        <p:spPr>
          <a:xfrm>
            <a:off x="6844964" y="5383112"/>
            <a:ext cx="578016" cy="1252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BC0EE4F8-9CD9-F4C2-52DD-670D7AE40CAC}"/>
              </a:ext>
            </a:extLst>
          </p:cNvPr>
          <p:cNvSpPr/>
          <p:nvPr/>
        </p:nvSpPr>
        <p:spPr>
          <a:xfrm>
            <a:off x="8856997" y="6471681"/>
            <a:ext cx="494921" cy="973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9F61671B-36FB-4C4F-0ECB-1C4AB817DD5A}"/>
              </a:ext>
            </a:extLst>
          </p:cNvPr>
          <p:cNvSpPr/>
          <p:nvPr/>
        </p:nvSpPr>
        <p:spPr>
          <a:xfrm>
            <a:off x="8832373" y="5961163"/>
            <a:ext cx="495793" cy="1235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DEDB34-3A6B-289E-4885-2860F54BFF18}"/>
              </a:ext>
            </a:extLst>
          </p:cNvPr>
          <p:cNvSpPr txBox="1"/>
          <p:nvPr/>
        </p:nvSpPr>
        <p:spPr>
          <a:xfrm>
            <a:off x="4985053" y="4885277"/>
            <a:ext cx="2603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Only P0’s SC instruction succeeded! </a:t>
            </a:r>
            <a:endParaRPr lang="LID4096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BB902-C241-198F-221D-907C1C64A1BE}"/>
              </a:ext>
            </a:extLst>
          </p:cNvPr>
          <p:cNvSpPr txBox="1"/>
          <p:nvPr/>
        </p:nvSpPr>
        <p:spPr>
          <a:xfrm>
            <a:off x="9469394" y="5002495"/>
            <a:ext cx="2804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Validity table is nullified in any case of attempted write to external memory</a:t>
            </a:r>
            <a:endParaRPr lang="LID4096" sz="1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F886C-0157-A7B5-8765-885A7DB72D7E}"/>
              </a:ext>
            </a:extLst>
          </p:cNvPr>
          <p:cNvSpPr txBox="1"/>
          <p:nvPr/>
        </p:nvSpPr>
        <p:spPr>
          <a:xfrm>
            <a:off x="8502586" y="4182107"/>
            <a:ext cx="3354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Both cores made valid reservations at address 6</a:t>
            </a:r>
            <a:endParaRPr lang="LID4096" sz="1200" dirty="0">
              <a:solidFill>
                <a:srgbClr val="FF0000"/>
              </a:solidFill>
            </a:endParaRPr>
          </a:p>
        </p:txBody>
      </p:sp>
      <p:sp>
        <p:nvSpPr>
          <p:cNvPr id="18" name="מלבן 10">
            <a:extLst>
              <a:ext uri="{FF2B5EF4-FFF2-40B4-BE49-F238E27FC236}">
                <a16:creationId xmlns:a16="http://schemas.microsoft.com/office/drawing/2014/main" id="{F66CF30D-0F45-4882-B05F-4EE0084D5320}"/>
              </a:ext>
            </a:extLst>
          </p:cNvPr>
          <p:cNvSpPr/>
          <p:nvPr/>
        </p:nvSpPr>
        <p:spPr>
          <a:xfrm>
            <a:off x="891600" y="1902807"/>
            <a:ext cx="9878001" cy="526504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9CD0B9-BD47-9FBE-20CC-2F98A86398AE}"/>
              </a:ext>
            </a:extLst>
          </p:cNvPr>
          <p:cNvSpPr txBox="1"/>
          <p:nvPr/>
        </p:nvSpPr>
        <p:spPr>
          <a:xfrm>
            <a:off x="831401" y="2034820"/>
            <a:ext cx="4628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external memory’s initial value at address 6 is 3:</a:t>
            </a:r>
            <a:endParaRPr lang="LID4096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1A5F6C-C5E4-DF94-67D3-E2763CC8B8E1}"/>
              </a:ext>
            </a:extLst>
          </p:cNvPr>
          <p:cNvSpPr txBox="1"/>
          <p:nvPr/>
        </p:nvSpPr>
        <p:spPr>
          <a:xfrm>
            <a:off x="6364923" y="795887"/>
            <a:ext cx="192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800" b="1" u="sng" dirty="0"/>
              <a:t>P1 code snippet: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36385-0DA6-0219-ECD3-5337A6C2D9A1}"/>
              </a:ext>
            </a:extLst>
          </p:cNvPr>
          <p:cNvSpPr txBox="1"/>
          <p:nvPr/>
        </p:nvSpPr>
        <p:spPr>
          <a:xfrm>
            <a:off x="3588436" y="768244"/>
            <a:ext cx="1925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800" b="1" u="sng" dirty="0"/>
              <a:t>P0 code snippet: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619D2A-6FEE-BEAA-A1B6-21A22D84C29C}"/>
              </a:ext>
            </a:extLst>
          </p:cNvPr>
          <p:cNvSpPr txBox="1"/>
          <p:nvPr/>
        </p:nvSpPr>
        <p:spPr>
          <a:xfrm>
            <a:off x="7506440" y="3637303"/>
            <a:ext cx="219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validity table 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0D87CF-D012-C610-E1E6-ECC193ACA657}"/>
              </a:ext>
            </a:extLst>
          </p:cNvPr>
          <p:cNvSpPr txBox="1"/>
          <p:nvPr/>
        </p:nvSpPr>
        <p:spPr>
          <a:xfrm>
            <a:off x="1690532" y="3753331"/>
            <a:ext cx="3283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Reservations table (MAR table):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2D0DC-79B4-13D0-9CAF-D13E67DA8C6C}"/>
              </a:ext>
            </a:extLst>
          </p:cNvPr>
          <p:cNvSpPr txBox="1"/>
          <p:nvPr/>
        </p:nvSpPr>
        <p:spPr>
          <a:xfrm>
            <a:off x="891600" y="2466787"/>
            <a:ext cx="886159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500" b="1" dirty="0"/>
              <a:t> </a:t>
            </a:r>
            <a:r>
              <a:rPr lang="en-US" sz="1500" b="1" u="sng" dirty="0"/>
              <a:t>After executing first 2 instructions (</a:t>
            </a:r>
            <a:r>
              <a:rPr lang="en-US" sz="1500" b="1" u="sng" dirty="0" err="1"/>
              <a:t>lr</a:t>
            </a:r>
            <a:r>
              <a:rPr lang="en-US" sz="1500" b="1" u="sng" dirty="0"/>
              <a:t>, </a:t>
            </a:r>
            <a:r>
              <a:rPr lang="en-US" sz="1500" b="1" u="sng" dirty="0" err="1"/>
              <a:t>addi</a:t>
            </a:r>
            <a:r>
              <a:rPr lang="en-US" sz="1500" b="1" u="sng" dirty="0"/>
              <a:t>) P0’s R1 value and P1’s R1 value are 4 and 5 respectively:</a:t>
            </a:r>
            <a:endParaRPr lang="en-US" sz="15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397DE6-DDE3-D792-C68A-979C15AB2C08}"/>
              </a:ext>
            </a:extLst>
          </p:cNvPr>
          <p:cNvSpPr txBox="1"/>
          <p:nvPr/>
        </p:nvSpPr>
        <p:spPr>
          <a:xfrm>
            <a:off x="1409842" y="2935517"/>
            <a:ext cx="1649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P0‘s RAM(R1) 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D9AC2-97E4-AAC0-AB09-B3B9BCD0DF09}"/>
              </a:ext>
            </a:extLst>
          </p:cNvPr>
          <p:cNvSpPr txBox="1"/>
          <p:nvPr/>
        </p:nvSpPr>
        <p:spPr>
          <a:xfrm>
            <a:off x="5866976" y="2863361"/>
            <a:ext cx="166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P0‘s RAM(R1) 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9D4926-6DD7-4B73-708B-9C34F99F1707}"/>
              </a:ext>
            </a:extLst>
          </p:cNvPr>
          <p:cNvSpPr txBox="1"/>
          <p:nvPr/>
        </p:nvSpPr>
        <p:spPr>
          <a:xfrm>
            <a:off x="140453" y="5675596"/>
            <a:ext cx="1591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dirty="0"/>
              <a:t>P0‘s RAM(</a:t>
            </a:r>
            <a:r>
              <a:rPr lang="en-US" sz="1600" dirty="0">
                <a:solidFill>
                  <a:srgbClr val="FF0000"/>
                </a:solidFill>
              </a:rPr>
              <a:t>R29</a:t>
            </a:r>
            <a:r>
              <a:rPr lang="en-US" sz="1600" dirty="0"/>
              <a:t>) 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8BF4C0-8002-3EF7-3C1B-DD4FC37F2185}"/>
              </a:ext>
            </a:extLst>
          </p:cNvPr>
          <p:cNvSpPr txBox="1"/>
          <p:nvPr/>
        </p:nvSpPr>
        <p:spPr>
          <a:xfrm>
            <a:off x="140452" y="6219301"/>
            <a:ext cx="1591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dirty="0"/>
              <a:t>P1‘s RAM(</a:t>
            </a:r>
            <a:r>
              <a:rPr lang="en-US" sz="1600" dirty="0">
                <a:solidFill>
                  <a:srgbClr val="FF0000"/>
                </a:solidFill>
              </a:rPr>
              <a:t>R29</a:t>
            </a:r>
            <a:r>
              <a:rPr lang="en-US" sz="1600" dirty="0"/>
              <a:t>) 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CBD7F0-64F1-8350-5D40-DEE28BDF6E11}"/>
              </a:ext>
            </a:extLst>
          </p:cNvPr>
          <p:cNvSpPr txBox="1"/>
          <p:nvPr/>
        </p:nvSpPr>
        <p:spPr>
          <a:xfrm>
            <a:off x="132481" y="4676355"/>
            <a:ext cx="46512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u="sng" dirty="0"/>
              <a:t>After executing Sc instruction  in both cores: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0EB7D4-8AE8-2309-773F-D4767BE84327}"/>
              </a:ext>
            </a:extLst>
          </p:cNvPr>
          <p:cNvSpPr txBox="1"/>
          <p:nvPr/>
        </p:nvSpPr>
        <p:spPr>
          <a:xfrm>
            <a:off x="0" y="5196456"/>
            <a:ext cx="1993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External memory:</a:t>
            </a:r>
            <a:endParaRPr lang="en-US" u="sng" dirty="0"/>
          </a:p>
        </p:txBody>
      </p:sp>
      <p:sp>
        <p:nvSpPr>
          <p:cNvPr id="42" name="מלבן 10">
            <a:extLst>
              <a:ext uri="{FF2B5EF4-FFF2-40B4-BE49-F238E27FC236}">
                <a16:creationId xmlns:a16="http://schemas.microsoft.com/office/drawing/2014/main" id="{75D9DC92-5573-0DE8-ACC9-F7E1D6E2B5F0}"/>
              </a:ext>
            </a:extLst>
          </p:cNvPr>
          <p:cNvSpPr/>
          <p:nvPr/>
        </p:nvSpPr>
        <p:spPr>
          <a:xfrm>
            <a:off x="831401" y="2485292"/>
            <a:ext cx="11025926" cy="2130099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B97462-4BC0-204A-79A4-73A83C1FAA97}"/>
              </a:ext>
            </a:extLst>
          </p:cNvPr>
          <p:cNvSpPr txBox="1"/>
          <p:nvPr/>
        </p:nvSpPr>
        <p:spPr>
          <a:xfrm>
            <a:off x="10547564" y="5390459"/>
            <a:ext cx="2198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validity table :</a:t>
            </a:r>
          </a:p>
        </p:txBody>
      </p:sp>
      <p:sp>
        <p:nvSpPr>
          <p:cNvPr id="44" name="מלבן 10">
            <a:extLst>
              <a:ext uri="{FF2B5EF4-FFF2-40B4-BE49-F238E27FC236}">
                <a16:creationId xmlns:a16="http://schemas.microsoft.com/office/drawing/2014/main" id="{F3C23FA8-E40A-BBE6-16A3-D5C798AAC4EC}"/>
              </a:ext>
            </a:extLst>
          </p:cNvPr>
          <p:cNvSpPr/>
          <p:nvPr/>
        </p:nvSpPr>
        <p:spPr>
          <a:xfrm>
            <a:off x="50734" y="4685181"/>
            <a:ext cx="12027699" cy="2130099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5" name="מלבן 10">
            <a:extLst>
              <a:ext uri="{FF2B5EF4-FFF2-40B4-BE49-F238E27FC236}">
                <a16:creationId xmlns:a16="http://schemas.microsoft.com/office/drawing/2014/main" id="{3EA5CC8D-3CF0-13E7-7805-7844254FF337}"/>
              </a:ext>
            </a:extLst>
          </p:cNvPr>
          <p:cNvSpPr/>
          <p:nvPr/>
        </p:nvSpPr>
        <p:spPr>
          <a:xfrm>
            <a:off x="3411794" y="833055"/>
            <a:ext cx="5731866" cy="992336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0FBDB1-3457-8BC1-D843-ABAC84ED5527}"/>
              </a:ext>
            </a:extLst>
          </p:cNvPr>
          <p:cNvCxnSpPr>
            <a:cxnSpLocks/>
          </p:cNvCxnSpPr>
          <p:nvPr/>
        </p:nvCxnSpPr>
        <p:spPr>
          <a:xfrm flipH="1">
            <a:off x="6221686" y="841001"/>
            <a:ext cx="6467" cy="99233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37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220418-51D1-C45A-719E-CE20BE59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54457"/>
            <a:ext cx="11421989" cy="1325563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Dual accesses to same  address’s Waveform Simulation - LR</a:t>
            </a:r>
            <a:endParaRPr lang="he-IL" sz="36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2FCC0A9-73E6-7580-62FF-B6E30985E7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621" y="1419816"/>
            <a:ext cx="8221379" cy="234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D7EC7B1D-15B4-545A-08B7-717260C65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734" y="3913985"/>
            <a:ext cx="8487266" cy="2530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כותרת 1">
            <a:extLst>
              <a:ext uri="{FF2B5EF4-FFF2-40B4-BE49-F238E27FC236}">
                <a16:creationId xmlns:a16="http://schemas.microsoft.com/office/drawing/2014/main" id="{9241806B-7F0F-6C25-B283-52D48C05A424}"/>
              </a:ext>
            </a:extLst>
          </p:cNvPr>
          <p:cNvSpPr txBox="1">
            <a:spLocks/>
          </p:cNvSpPr>
          <p:nvPr/>
        </p:nvSpPr>
        <p:spPr>
          <a:xfrm>
            <a:off x="0" y="2721989"/>
            <a:ext cx="4095610" cy="1414021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1400" dirty="0"/>
              <a:t>First both cores’ states transition as follows:</a:t>
            </a:r>
          </a:p>
          <a:p>
            <a:pPr algn="l" rtl="0"/>
            <a:r>
              <a:rPr lang="en-US" sz="1200" b="1" dirty="0"/>
              <a:t> INIT → FETCH → DECODE → ADDRESSCMP → LOAD(01011).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1F7176F-F5C9-1842-D686-A50D2AC482F3}"/>
              </a:ext>
            </a:extLst>
          </p:cNvPr>
          <p:cNvSpPr/>
          <p:nvPr/>
        </p:nvSpPr>
        <p:spPr>
          <a:xfrm>
            <a:off x="5675616" y="3170591"/>
            <a:ext cx="6270867" cy="264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E066187E-1D47-D213-64E6-3DE2432ADF43}"/>
              </a:ext>
            </a:extLst>
          </p:cNvPr>
          <p:cNvSpPr/>
          <p:nvPr/>
        </p:nvSpPr>
        <p:spPr>
          <a:xfrm>
            <a:off x="5461001" y="5731034"/>
            <a:ext cx="6730999" cy="2919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B8ACBFA3-F810-8852-031B-67453396177D}"/>
              </a:ext>
            </a:extLst>
          </p:cNvPr>
          <p:cNvSpPr/>
          <p:nvPr/>
        </p:nvSpPr>
        <p:spPr>
          <a:xfrm>
            <a:off x="5570840" y="5350904"/>
            <a:ext cx="3761119" cy="11514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4">
            <a:extLst>
              <a:ext uri="{FF2B5EF4-FFF2-40B4-BE49-F238E27FC236}">
                <a16:creationId xmlns:a16="http://schemas.microsoft.com/office/drawing/2014/main" id="{8A10105D-4AF2-BAFF-B3F8-61571F3B49EA}"/>
              </a:ext>
            </a:extLst>
          </p:cNvPr>
          <p:cNvSpPr/>
          <p:nvPr/>
        </p:nvSpPr>
        <p:spPr>
          <a:xfrm>
            <a:off x="3959569" y="5350904"/>
            <a:ext cx="457200" cy="11514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E694B4E3-31A0-B489-2E8E-BFBAFA774338}"/>
              </a:ext>
            </a:extLst>
          </p:cNvPr>
          <p:cNvSpPr txBox="1">
            <a:spLocks/>
          </p:cNvSpPr>
          <p:nvPr/>
        </p:nvSpPr>
        <p:spPr>
          <a:xfrm>
            <a:off x="136040" y="5489173"/>
            <a:ext cx="3823529" cy="665627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1200" dirty="0"/>
              <a:t>At 1600 ns P1 finished loading from external memory so </a:t>
            </a:r>
            <a:r>
              <a:rPr lang="en-US" sz="1200" b="1" dirty="0" err="1"/>
              <a:t>bus_sel</a:t>
            </a:r>
            <a:r>
              <a:rPr lang="en-US" sz="1200" b="1" dirty="0"/>
              <a:t> </a:t>
            </a:r>
            <a:r>
              <a:rPr lang="en-US" sz="1200" dirty="0"/>
              <a:t>in now  ‘1’ (selecting P1) ,</a:t>
            </a:r>
            <a:r>
              <a:rPr lang="en-US" sz="1200" dirty="0" err="1">
                <a:solidFill>
                  <a:srgbClr val="0070C0"/>
                </a:solidFill>
              </a:rPr>
              <a:t>PB_pass</a:t>
            </a:r>
            <a:r>
              <a:rPr lang="en-US" sz="1200" dirty="0">
                <a:solidFill>
                  <a:srgbClr val="0070C0"/>
                </a:solidFill>
              </a:rPr>
              <a:t> </a:t>
            </a:r>
            <a:r>
              <a:rPr lang="en-US" sz="1200" dirty="0"/>
              <a:t>is now  ‘1’ signaling to P1 the bus in now his.</a:t>
            </a:r>
          </a:p>
        </p:txBody>
      </p:sp>
      <p:sp>
        <p:nvSpPr>
          <p:cNvPr id="12" name="מלבן 4">
            <a:extLst>
              <a:ext uri="{FF2B5EF4-FFF2-40B4-BE49-F238E27FC236}">
                <a16:creationId xmlns:a16="http://schemas.microsoft.com/office/drawing/2014/main" id="{BF34BC14-48B6-E671-12E8-F8C0E5B91B0D}"/>
              </a:ext>
            </a:extLst>
          </p:cNvPr>
          <p:cNvSpPr/>
          <p:nvPr/>
        </p:nvSpPr>
        <p:spPr>
          <a:xfrm>
            <a:off x="3970621" y="5484433"/>
            <a:ext cx="466240" cy="102984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4">
            <a:extLst>
              <a:ext uri="{FF2B5EF4-FFF2-40B4-BE49-F238E27FC236}">
                <a16:creationId xmlns:a16="http://schemas.microsoft.com/office/drawing/2014/main" id="{E94B760E-F935-5390-52E8-C510761B8204}"/>
              </a:ext>
            </a:extLst>
          </p:cNvPr>
          <p:cNvSpPr/>
          <p:nvPr/>
        </p:nvSpPr>
        <p:spPr>
          <a:xfrm>
            <a:off x="9331959" y="5484433"/>
            <a:ext cx="2860041" cy="116949"/>
          </a:xfrm>
          <a:prstGeom prst="rect">
            <a:avLst/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EA0E3-7D3E-275B-4D38-67328449C45E}"/>
              </a:ext>
            </a:extLst>
          </p:cNvPr>
          <p:cNvSpPr txBox="1"/>
          <p:nvPr/>
        </p:nvSpPr>
        <p:spPr>
          <a:xfrm>
            <a:off x="58318" y="4652884"/>
            <a:ext cx="3907067" cy="47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200" dirty="0" err="1"/>
              <a:t>SyncBox</a:t>
            </a:r>
            <a:r>
              <a:rPr lang="en-US" sz="1200" dirty="0"/>
              <a:t> grants P0 bus access first (</a:t>
            </a:r>
            <a:r>
              <a:rPr lang="en-US" sz="1200" dirty="0" err="1">
                <a:solidFill>
                  <a:schemeClr val="accent2"/>
                </a:solidFill>
              </a:rPr>
              <a:t>PA_pass</a:t>
            </a:r>
            <a:r>
              <a:rPr lang="en-US" sz="1200" dirty="0">
                <a:solidFill>
                  <a:schemeClr val="accent2"/>
                </a:solidFill>
              </a:rPr>
              <a:t> is ‘1’</a:t>
            </a:r>
            <a:r>
              <a:rPr lang="en-US" sz="1200" dirty="0"/>
              <a:t>, </a:t>
            </a:r>
            <a:r>
              <a:rPr lang="en-US" sz="1200" b="1" dirty="0" err="1"/>
              <a:t>bus_sel</a:t>
            </a:r>
            <a:r>
              <a:rPr lang="en-US" sz="1200" b="1" dirty="0"/>
              <a:t> </a:t>
            </a:r>
            <a:r>
              <a:rPr lang="en-US" sz="1200" dirty="0"/>
              <a:t>= ‘0’), P1 waits in </a:t>
            </a:r>
            <a:r>
              <a:rPr lang="en-US" sz="1200" b="1" dirty="0"/>
              <a:t>LOAD (01011).</a:t>
            </a:r>
            <a:endParaRPr lang="en-US" sz="1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8764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62EDDF-BA5D-AA4C-79F3-CF7972701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>
              <a:buNone/>
            </a:pPr>
            <a:r>
              <a:rPr lang="en-US" sz="2400" dirty="0"/>
              <a:t>Symmetric execution (INIT → FETCH → DECODE → ALUI → WBI → INIT), internal instruction for each core thus no external memory access arbitration is needed.</a:t>
            </a:r>
            <a:endParaRPr lang="en-US" sz="2400" dirty="0">
              <a:effectLst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5F0F6DC6-F610-4751-48F2-2F80C0CC9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572" y="2981719"/>
            <a:ext cx="9381756" cy="294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836E645D-A286-3C0B-7F3A-BF96A1ABDA3F}"/>
              </a:ext>
            </a:extLst>
          </p:cNvPr>
          <p:cNvSpPr/>
          <p:nvPr/>
        </p:nvSpPr>
        <p:spPr>
          <a:xfrm>
            <a:off x="4308838" y="5224272"/>
            <a:ext cx="7310137" cy="3336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624A2DD-3BCF-DBC5-1B08-947BABF1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365125"/>
            <a:ext cx="11818375" cy="1325563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Dual accesses to same  address’s Waveform Simulation - ADDI</a:t>
            </a:r>
            <a:endParaRPr lang="LID4096" sz="3600" dirty="0"/>
          </a:p>
        </p:txBody>
      </p:sp>
    </p:spTree>
    <p:extLst>
      <p:ext uri="{BB962C8B-B14F-4D97-AF65-F5344CB8AC3E}">
        <p14:creationId xmlns:p14="http://schemas.microsoft.com/office/powerpoint/2010/main" val="311082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A3A9DFA-2889-3AA4-603D-0273F7E4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720"/>
            <a:ext cx="12047254" cy="926345"/>
          </a:xfrm>
        </p:spPr>
        <p:txBody>
          <a:bodyPr>
            <a:normAutofit/>
          </a:bodyPr>
          <a:lstStyle/>
          <a:p>
            <a:pPr algn="l" rtl="0"/>
            <a:r>
              <a:rPr lang="en-US" sz="3600" dirty="0"/>
              <a:t>Dual accesses to same  address’s Waveform Simulation - SC</a:t>
            </a:r>
            <a:endParaRPr lang="he-IL" sz="36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20522DB-A931-F81E-2ECA-7BC8E779F1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7424" y="3467725"/>
            <a:ext cx="7218926" cy="2671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1BECE872-054B-A9F3-EC96-FC23F4A09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12196" y="1080250"/>
            <a:ext cx="8076754" cy="2221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DB12504E-5086-D0C7-25CB-300C4B229FE3}"/>
              </a:ext>
            </a:extLst>
          </p:cNvPr>
          <p:cNvSpPr txBox="1">
            <a:spLocks/>
          </p:cNvSpPr>
          <p:nvPr/>
        </p:nvSpPr>
        <p:spPr>
          <a:xfrm>
            <a:off x="361873" y="3178480"/>
            <a:ext cx="3528869" cy="50104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None/>
            </a:pPr>
            <a:r>
              <a:rPr lang="en-US" sz="1400" dirty="0"/>
              <a:t>At first both cores reach the state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STORE(01110) </a:t>
            </a:r>
            <a:r>
              <a:rPr lang="en-US" sz="1400" dirty="0"/>
              <a:t>simultaneously 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3B62DB75-CEE6-B356-C3FC-7B95608DFD7E}"/>
              </a:ext>
            </a:extLst>
          </p:cNvPr>
          <p:cNvSpPr/>
          <p:nvPr/>
        </p:nvSpPr>
        <p:spPr>
          <a:xfrm>
            <a:off x="4557424" y="5410200"/>
            <a:ext cx="7218926" cy="391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7E145B6A-C16D-5DBE-3813-00FD787EC77E}"/>
              </a:ext>
            </a:extLst>
          </p:cNvPr>
          <p:cNvSpPr/>
          <p:nvPr/>
        </p:nvSpPr>
        <p:spPr>
          <a:xfrm>
            <a:off x="4701726" y="5032233"/>
            <a:ext cx="7074624" cy="10827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5">
            <a:extLst>
              <a:ext uri="{FF2B5EF4-FFF2-40B4-BE49-F238E27FC236}">
                <a16:creationId xmlns:a16="http://schemas.microsoft.com/office/drawing/2014/main" id="{D9A3552B-6B74-2383-FCFF-83D0F246AFE5}"/>
              </a:ext>
            </a:extLst>
          </p:cNvPr>
          <p:cNvSpPr/>
          <p:nvPr/>
        </p:nvSpPr>
        <p:spPr>
          <a:xfrm>
            <a:off x="7216325" y="5638910"/>
            <a:ext cx="681805" cy="133007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 4">
            <a:extLst>
              <a:ext uri="{FF2B5EF4-FFF2-40B4-BE49-F238E27FC236}">
                <a16:creationId xmlns:a16="http://schemas.microsoft.com/office/drawing/2014/main" id="{C619BE22-B711-4C86-0BEE-282A07CBF33A}"/>
              </a:ext>
            </a:extLst>
          </p:cNvPr>
          <p:cNvSpPr/>
          <p:nvPr/>
        </p:nvSpPr>
        <p:spPr>
          <a:xfrm>
            <a:off x="4112197" y="2837371"/>
            <a:ext cx="8076754" cy="2353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 w="28575">
                <a:solidFill>
                  <a:schemeClr val="tx1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5B8982-D04B-6493-8851-DA3A525D3D3F}"/>
              </a:ext>
            </a:extLst>
          </p:cNvPr>
          <p:cNvSpPr txBox="1"/>
          <p:nvPr/>
        </p:nvSpPr>
        <p:spPr>
          <a:xfrm>
            <a:off x="106786" y="3960272"/>
            <a:ext cx="43438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sz="1400" dirty="0"/>
              <a:t>The </a:t>
            </a:r>
            <a:r>
              <a:rPr lang="en-US" sz="1400" dirty="0" err="1"/>
              <a:t>SyncBox</a:t>
            </a:r>
            <a:r>
              <a:rPr lang="en-US" sz="1400" dirty="0"/>
              <a:t> grants P0 access to memory (</a:t>
            </a:r>
            <a:r>
              <a:rPr lang="en-US" sz="1400" dirty="0" err="1">
                <a:solidFill>
                  <a:schemeClr val="accent2"/>
                </a:solidFill>
              </a:rPr>
              <a:t>PA_pass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/>
              <a:t>is</a:t>
            </a:r>
            <a:r>
              <a:rPr lang="en-US" sz="1400" dirty="0">
                <a:solidFill>
                  <a:schemeClr val="accent2"/>
                </a:solidFill>
              </a:rPr>
              <a:t> </a:t>
            </a:r>
            <a:r>
              <a:rPr lang="en-US" sz="1400" dirty="0"/>
              <a:t>high, </a:t>
            </a:r>
            <a:r>
              <a:rPr lang="en-US" sz="1400" b="1" dirty="0" err="1"/>
              <a:t>bus_sel</a:t>
            </a:r>
            <a:r>
              <a:rPr lang="en-US" sz="1400" b="1" dirty="0"/>
              <a:t> </a:t>
            </a:r>
            <a:r>
              <a:rPr lang="en-US" sz="1400" dirty="0"/>
              <a:t>= 0) while preventing P1 from accessing the memory by turning </a:t>
            </a:r>
            <a:r>
              <a:rPr lang="en-US" sz="1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PB_success</a:t>
            </a:r>
            <a:r>
              <a:rPr lang="en-US" sz="1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dirty="0"/>
              <a:t>low ,indicating failure (P0 is granted precedence over P1)</a:t>
            </a:r>
          </a:p>
        </p:txBody>
      </p:sp>
      <p:sp>
        <p:nvSpPr>
          <p:cNvPr id="12" name="מלבן 5">
            <a:extLst>
              <a:ext uri="{FF2B5EF4-FFF2-40B4-BE49-F238E27FC236}">
                <a16:creationId xmlns:a16="http://schemas.microsoft.com/office/drawing/2014/main" id="{BFD79FF7-F489-B6E3-21E2-48842926E795}"/>
              </a:ext>
            </a:extLst>
          </p:cNvPr>
          <p:cNvSpPr/>
          <p:nvPr/>
        </p:nvSpPr>
        <p:spPr>
          <a:xfrm>
            <a:off x="4701726" y="4865863"/>
            <a:ext cx="7074624" cy="124193"/>
          </a:xfrm>
          <a:prstGeom prst="rect">
            <a:avLst/>
          </a:prstGeom>
          <a:noFill/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4814B-2E84-5797-13C1-60590BB8A352}"/>
              </a:ext>
            </a:extLst>
          </p:cNvPr>
          <p:cNvSpPr txBox="1"/>
          <p:nvPr/>
        </p:nvSpPr>
        <p:spPr>
          <a:xfrm>
            <a:off x="213572" y="5123064"/>
            <a:ext cx="41302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400" dirty="0"/>
              <a:t>Thus  P1 transitions to INIT state (00000) immediately and P0 remain in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STORE(01110)  </a:t>
            </a:r>
            <a:r>
              <a:rPr lang="en-US" sz="1400" dirty="0"/>
              <a:t>until he finishes writing to external memory and than he also reverts to INIT (00000) state.</a:t>
            </a:r>
          </a:p>
        </p:txBody>
      </p:sp>
      <p:sp>
        <p:nvSpPr>
          <p:cNvPr id="14" name="מלבן 5">
            <a:extLst>
              <a:ext uri="{FF2B5EF4-FFF2-40B4-BE49-F238E27FC236}">
                <a16:creationId xmlns:a16="http://schemas.microsoft.com/office/drawing/2014/main" id="{3F3D4D7C-6D99-6CB0-219C-C973617AC42A}"/>
              </a:ext>
            </a:extLst>
          </p:cNvPr>
          <p:cNvSpPr/>
          <p:nvPr/>
        </p:nvSpPr>
        <p:spPr>
          <a:xfrm>
            <a:off x="7216325" y="5448300"/>
            <a:ext cx="3383095" cy="163196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2958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B5D6-8877-8FC6-65C0-1927B7DBF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288843F-BFC5-0CFF-C368-E0836939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" y="1091603"/>
            <a:ext cx="10515600" cy="1325563"/>
          </a:xfrm>
        </p:spPr>
        <p:txBody>
          <a:bodyPr>
            <a:normAutofit/>
          </a:bodyPr>
          <a:lstStyle/>
          <a:p>
            <a:pPr algn="l" rtl="0"/>
            <a:br>
              <a:rPr lang="en-US" sz="4000" dirty="0"/>
            </a:br>
            <a:endParaRPr lang="he-IL" sz="4000" dirty="0"/>
          </a:p>
        </p:txBody>
      </p:sp>
      <p:sp>
        <p:nvSpPr>
          <p:cNvPr id="8" name="כותרת 1">
            <a:extLst>
              <a:ext uri="{FF2B5EF4-FFF2-40B4-BE49-F238E27FC236}">
                <a16:creationId xmlns:a16="http://schemas.microsoft.com/office/drawing/2014/main" id="{F17DF1BD-968F-A181-F8A1-F574F5AB47A9}"/>
              </a:ext>
            </a:extLst>
          </p:cNvPr>
          <p:cNvSpPr txBox="1">
            <a:spLocks/>
          </p:cNvSpPr>
          <p:nvPr/>
        </p:nvSpPr>
        <p:spPr>
          <a:xfrm>
            <a:off x="188536" y="58776"/>
            <a:ext cx="11642103" cy="71602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75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4000" dirty="0" err="1"/>
              <a:t>Emualtion</a:t>
            </a:r>
            <a:endParaRPr lang="en-US" sz="4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3D9F73-71F9-252A-5029-325094B03391}"/>
              </a:ext>
            </a:extLst>
          </p:cNvPr>
          <p:cNvSpPr txBox="1"/>
          <p:nvPr/>
        </p:nvSpPr>
        <p:spPr>
          <a:xfrm>
            <a:off x="308162" y="1454907"/>
            <a:ext cx="6366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/>
              <a:t>One of many matrix multiplication code example we compared is:</a:t>
            </a:r>
            <a:endParaRPr lang="LID4096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49C48-89A6-4E71-7713-FEEBDD4A6EF9}"/>
              </a:ext>
            </a:extLst>
          </p:cNvPr>
          <p:cNvSpPr txBox="1"/>
          <p:nvPr/>
        </p:nvSpPr>
        <p:spPr>
          <a:xfrm>
            <a:off x="118746" y="588284"/>
            <a:ext cx="120732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Wrote full matrix-multiplication assembly code with atomic instructions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Deployed the design to the RESA FPGA board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Verified that hardware results matched the IO sim simulation results</a:t>
            </a:r>
            <a:endParaRPr lang="LID409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73C3F6-01E5-D38A-C9CB-3123A391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47"/>
          <a:stretch>
            <a:fillRect/>
          </a:stretch>
        </p:blipFill>
        <p:spPr>
          <a:xfrm>
            <a:off x="6959332" y="1396297"/>
            <a:ext cx="4258021" cy="6166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78361F-27A0-8D5F-EA02-C43115BAC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343" y="3419760"/>
            <a:ext cx="3060337" cy="9737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2F7DE5-CEC1-B395-0811-A2859513A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3" r="29376" b="16491"/>
          <a:stretch>
            <a:fillRect/>
          </a:stretch>
        </p:blipFill>
        <p:spPr>
          <a:xfrm>
            <a:off x="374962" y="2241120"/>
            <a:ext cx="5708333" cy="396030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E4B439D-DFE8-183D-0D7A-42109BCCEEE5}"/>
              </a:ext>
            </a:extLst>
          </p:cNvPr>
          <p:cNvSpPr/>
          <p:nvPr/>
        </p:nvSpPr>
        <p:spPr>
          <a:xfrm>
            <a:off x="2980140" y="5484783"/>
            <a:ext cx="1233784" cy="305655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AA9711-ACF0-17EA-5356-0B2CAE5491FA}"/>
              </a:ext>
            </a:extLst>
          </p:cNvPr>
          <p:cNvSpPr/>
          <p:nvPr/>
        </p:nvSpPr>
        <p:spPr>
          <a:xfrm>
            <a:off x="7714343" y="3401693"/>
            <a:ext cx="3060336" cy="1060226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D28AE3-5030-4128-3F43-0252B1C438F3}"/>
              </a:ext>
            </a:extLst>
          </p:cNvPr>
          <p:cNvSpPr txBox="1"/>
          <p:nvPr/>
        </p:nvSpPr>
        <p:spPr>
          <a:xfrm>
            <a:off x="374962" y="1810291"/>
            <a:ext cx="8151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800" b="1" dirty="0"/>
              <a:t>RESA:</a:t>
            </a:r>
            <a:endParaRPr lang="LID4096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53BA13-BC90-94C2-EA2A-DBBF3C8781DC}"/>
              </a:ext>
            </a:extLst>
          </p:cNvPr>
          <p:cNvSpPr txBox="1"/>
          <p:nvPr/>
        </p:nvSpPr>
        <p:spPr>
          <a:xfrm>
            <a:off x="8642395" y="2981394"/>
            <a:ext cx="1068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800" b="1" dirty="0"/>
              <a:t>IO SIM:</a:t>
            </a:r>
            <a:endParaRPr lang="LID4096" sz="1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E0E207-8BD4-8BA5-925B-1DAEC9FABD59}"/>
              </a:ext>
            </a:extLst>
          </p:cNvPr>
          <p:cNvSpPr txBox="1"/>
          <p:nvPr/>
        </p:nvSpPr>
        <p:spPr>
          <a:xfrm>
            <a:off x="7714343" y="5226821"/>
            <a:ext cx="32369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/>
              <a:t>The results are indeed identical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2818566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E94257-A7FF-473E-A81C-2B7D94BF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365" y="66114"/>
            <a:ext cx="11642103" cy="716020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sz="4000" dirty="0"/>
              <a:t>Case usage example- Convolution and matrixes multiplication</a:t>
            </a:r>
            <a:endParaRPr lang="en-US" sz="4000" dirty="0">
              <a:effectLst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17E2461-2069-4AD8-A6A3-AB276EF4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56" y="594720"/>
            <a:ext cx="11642102" cy="4351338"/>
          </a:xfrm>
        </p:spPr>
        <p:txBody>
          <a:bodyPr/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800" dirty="0"/>
              <a:t>Convolution and matrix multiplication are ideal for dual-core execution, </a:t>
            </a:r>
            <a:r>
              <a:rPr lang="en-GB" sz="1800" dirty="0"/>
              <a:t>yielding near-2× speedup.</a:t>
            </a:r>
            <a:br>
              <a:rPr lang="en-US" sz="1800" dirty="0"/>
            </a:br>
            <a:r>
              <a:rPr lang="en-US" sz="1800" dirty="0"/>
              <a:t>Most of the work is internal parallel computations (multiplications), the few shared-bus memory accesses are minor.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D761A7-2FFA-A574-1878-CC56674110D8}"/>
              </a:ext>
            </a:extLst>
          </p:cNvPr>
          <p:cNvSpPr txBox="1"/>
          <p:nvPr/>
        </p:nvSpPr>
        <p:spPr>
          <a:xfrm>
            <a:off x="1439821" y="5339950"/>
            <a:ext cx="46204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>
              <a:lnSpc>
                <a:spcPct val="100000"/>
              </a:lnSpc>
              <a:buNone/>
            </a:pPr>
            <a:r>
              <a:rPr lang="en-US" sz="1800" b="1" u="sng" dirty="0"/>
              <a:t>The results are: </a:t>
            </a:r>
          </a:p>
          <a:p>
            <a:pPr marL="0" indent="0" algn="l" rtl="0">
              <a:lnSpc>
                <a:spcPct val="100000"/>
              </a:lnSpc>
              <a:buNone/>
            </a:pPr>
            <a:r>
              <a:rPr lang="en-US" sz="1800" b="1" dirty="0"/>
              <a:t>Simplified DLX runtime: 7838 clock cycles </a:t>
            </a:r>
          </a:p>
          <a:p>
            <a:pPr marL="0" indent="0" algn="l" rtl="0">
              <a:buNone/>
            </a:pPr>
            <a:r>
              <a:rPr lang="en-US" sz="1800" b="1" dirty="0"/>
              <a:t>Dual core runtime: 4242 clock cycles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CB320-A981-4670-18F5-B9D8D179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714" y="2122964"/>
            <a:ext cx="2651760" cy="7312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580FB1E9-3DEE-F581-892A-59EC5C5E8FEB}"/>
              </a:ext>
            </a:extLst>
          </p:cNvPr>
          <p:cNvSpPr/>
          <p:nvPr/>
        </p:nvSpPr>
        <p:spPr>
          <a:xfrm rot="5400000">
            <a:off x="5384627" y="2945100"/>
            <a:ext cx="245685" cy="2363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DC20283-80A0-56FE-CF5D-63B99E61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221" y="3255568"/>
            <a:ext cx="3052675" cy="1657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EDAA01-A14B-2F70-8F67-3DA14F03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387" y="2106043"/>
            <a:ext cx="2333951" cy="733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A944777-7F36-62EF-C139-0FACCE59C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221" y="2107366"/>
            <a:ext cx="2095792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F1DDC0D-EB94-E67D-FEF2-EEDD0BE5CEFD}"/>
              </a:ext>
            </a:extLst>
          </p:cNvPr>
          <p:cNvSpPr txBox="1"/>
          <p:nvPr/>
        </p:nvSpPr>
        <p:spPr>
          <a:xfrm>
            <a:off x="802883" y="1510755"/>
            <a:ext cx="9841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800" b="1" u="sng" dirty="0"/>
              <a:t>An</a:t>
            </a:r>
            <a:r>
              <a:rPr lang="en-US" b="1" u="sng" dirty="0"/>
              <a:t> illustrative convolution example</a:t>
            </a:r>
            <a:r>
              <a:rPr lang="en-US" sz="1800" b="1" u="sng" dirty="0"/>
              <a:t> we ran is:</a:t>
            </a:r>
            <a:endParaRPr lang="en-US" sz="1600" b="1" u="sng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86B0FEF-8105-C7CE-0617-135547A98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486" y="3231534"/>
            <a:ext cx="2904988" cy="17314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0" name="Arrow: Right 39">
            <a:extLst>
              <a:ext uri="{FF2B5EF4-FFF2-40B4-BE49-F238E27FC236}">
                <a16:creationId xmlns:a16="http://schemas.microsoft.com/office/drawing/2014/main" id="{1001CBD3-1CB4-5351-F7C5-2DD925EE3994}"/>
              </a:ext>
            </a:extLst>
          </p:cNvPr>
          <p:cNvSpPr/>
          <p:nvPr/>
        </p:nvSpPr>
        <p:spPr>
          <a:xfrm>
            <a:off x="6072739" y="5662574"/>
            <a:ext cx="737419" cy="2780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7D1AB4-7927-68C2-39ED-4F4AB5BBF6D9}"/>
              </a:ext>
            </a:extLst>
          </p:cNvPr>
          <p:cNvSpPr txBox="1"/>
          <p:nvPr/>
        </p:nvSpPr>
        <p:spPr>
          <a:xfrm>
            <a:off x="7037279" y="5538182"/>
            <a:ext cx="43038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/>
              <a:t>Already for small input values we got </a:t>
            </a:r>
            <a:r>
              <a:rPr lang="en-US" b="1" dirty="0"/>
              <a:t>relatively close to 2x </a:t>
            </a:r>
            <a:r>
              <a:rPr lang="en-US" sz="1800" b="1" dirty="0"/>
              <a:t>speedup</a:t>
            </a:r>
            <a:r>
              <a:rPr lang="en-US" b="1" dirty="0"/>
              <a:t> of </a:t>
            </a:r>
            <a:r>
              <a:rPr lang="en-US" sz="1800" b="1" dirty="0"/>
              <a:t>1.85x! </a:t>
            </a:r>
            <a:endParaRPr lang="LID4096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7A524B7-6432-8805-A364-A4B3CE2BD355}"/>
              </a:ext>
            </a:extLst>
          </p:cNvPr>
          <p:cNvSpPr/>
          <p:nvPr/>
        </p:nvSpPr>
        <p:spPr>
          <a:xfrm>
            <a:off x="991746" y="3212622"/>
            <a:ext cx="9414387" cy="179564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536764-620D-3090-BBA9-48EDFFEB80AC}"/>
              </a:ext>
            </a:extLst>
          </p:cNvPr>
          <p:cNvSpPr/>
          <p:nvPr/>
        </p:nvSpPr>
        <p:spPr>
          <a:xfrm>
            <a:off x="888508" y="5339949"/>
            <a:ext cx="10703321" cy="923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C014C6C-0B9D-C9FD-E7F9-5D0360DF8667}"/>
              </a:ext>
            </a:extLst>
          </p:cNvPr>
          <p:cNvSpPr/>
          <p:nvPr/>
        </p:nvSpPr>
        <p:spPr>
          <a:xfrm>
            <a:off x="1198678" y="2037221"/>
            <a:ext cx="8573729" cy="843716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733F6084-5C6B-7C3D-A893-C71EC430E483}"/>
              </a:ext>
            </a:extLst>
          </p:cNvPr>
          <p:cNvSpPr/>
          <p:nvPr/>
        </p:nvSpPr>
        <p:spPr>
          <a:xfrm rot="5400000">
            <a:off x="5407591" y="5055926"/>
            <a:ext cx="245685" cy="2363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03634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409F84-08EE-9518-8C27-44F6A0FE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br>
              <a:rPr lang="en-US" sz="4000" dirty="0"/>
            </a:br>
            <a:endParaRPr lang="he-IL" sz="4000" dirty="0"/>
          </a:p>
        </p:txBody>
      </p:sp>
      <p:sp>
        <p:nvSpPr>
          <p:cNvPr id="8" name="כותרת 1">
            <a:extLst>
              <a:ext uri="{FF2B5EF4-FFF2-40B4-BE49-F238E27FC236}">
                <a16:creationId xmlns:a16="http://schemas.microsoft.com/office/drawing/2014/main" id="{8616D719-A81D-94A5-0EAE-D70C9083CE44}"/>
              </a:ext>
            </a:extLst>
          </p:cNvPr>
          <p:cNvSpPr txBox="1">
            <a:spLocks/>
          </p:cNvSpPr>
          <p:nvPr/>
        </p:nvSpPr>
        <p:spPr>
          <a:xfrm>
            <a:off x="188536" y="58776"/>
            <a:ext cx="11642103" cy="71602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0000"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/>
            <a:r>
              <a:rPr lang="en-US" sz="4000" dirty="0"/>
              <a:t>Case usage example- Convolution and matrixes multiplication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B687E-BBD6-FE54-1619-A1396A445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77" y="708452"/>
            <a:ext cx="3999837" cy="7160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EA11585-CF6B-A382-E665-AAE236ECA1B3}"/>
              </a:ext>
            </a:extLst>
          </p:cNvPr>
          <p:cNvSpPr txBox="1"/>
          <p:nvPr/>
        </p:nvSpPr>
        <p:spPr>
          <a:xfrm>
            <a:off x="838194" y="3648173"/>
            <a:ext cx="10228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endParaRPr lang="LID4096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FA7F65-D556-7DF5-063D-B9949A31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32" y="1954112"/>
            <a:ext cx="8211696" cy="11050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7247B69-ED09-7017-AE4E-165F69B9C94E}"/>
              </a:ext>
            </a:extLst>
          </p:cNvPr>
          <p:cNvSpPr txBox="1"/>
          <p:nvPr/>
        </p:nvSpPr>
        <p:spPr>
          <a:xfrm>
            <a:off x="520775" y="1574563"/>
            <a:ext cx="74334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/>
              <a:t>In our code we split the workload between the cores in the following manner:</a:t>
            </a:r>
            <a:endParaRPr lang="LID4096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760CF1-2B53-CA5F-536C-20AABD0FB697}"/>
              </a:ext>
            </a:extLst>
          </p:cNvPr>
          <p:cNvSpPr txBox="1"/>
          <p:nvPr/>
        </p:nvSpPr>
        <p:spPr>
          <a:xfrm>
            <a:off x="560461" y="3070217"/>
            <a:ext cx="117396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/>
              <a:t>Why this split is balanced</a:t>
            </a:r>
            <a:br>
              <a:rPr lang="en-US" dirty="0"/>
            </a:br>
            <a:r>
              <a:rPr lang="en-US" sz="1600" dirty="0"/>
              <a:t>In assembly, multiplication (x*y) is a series of y additions of x. Each element of </a:t>
            </a:r>
            <a:r>
              <a:rPr lang="en-US" sz="1600" b="1" dirty="0"/>
              <a:t>B</a:t>
            </a:r>
            <a:r>
              <a:rPr lang="en-US" sz="1600" dirty="0"/>
              <a:t> tells how many times the matching element of A is added. </a:t>
            </a:r>
            <a:r>
              <a:rPr lang="en-US" sz="1600" u="sng" dirty="0"/>
              <a:t>By the table we see that for each calculated row, the total additions is the sum of all elements in B which is exactly balanced between both cores.</a:t>
            </a:r>
            <a:endParaRPr lang="LID4096" sz="1600" u="sng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BF0AFC4-F879-0360-FBB9-41338A23FF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251" t="33483"/>
          <a:stretch>
            <a:fillRect/>
          </a:stretch>
        </p:blipFill>
        <p:spPr>
          <a:xfrm>
            <a:off x="3441290" y="4352017"/>
            <a:ext cx="3755923" cy="80830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8C0947-666D-96EA-8EDD-C045AB2814C1}"/>
              </a:ext>
            </a:extLst>
          </p:cNvPr>
          <p:cNvSpPr txBox="1"/>
          <p:nvPr/>
        </p:nvSpPr>
        <p:spPr>
          <a:xfrm>
            <a:off x="560461" y="4270026"/>
            <a:ext cx="2991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1600" b="1" dirty="0"/>
              <a:t>The example we simulated is:</a:t>
            </a:r>
            <a:endParaRPr lang="LID4096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5CDB81D-3D82-6A9E-6B33-561CEC94668B}"/>
              </a:ext>
            </a:extLst>
          </p:cNvPr>
          <p:cNvSpPr txBox="1"/>
          <p:nvPr/>
        </p:nvSpPr>
        <p:spPr>
          <a:xfrm>
            <a:off x="667809" y="5180376"/>
            <a:ext cx="109342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dirty="0"/>
              <a:t>The runtimes we got were </a:t>
            </a:r>
            <a:r>
              <a:rPr lang="en-US" dirty="0">
                <a:solidFill>
                  <a:srgbClr val="FF0000"/>
                </a:solidFill>
              </a:rPr>
              <a:t>6783</a:t>
            </a:r>
            <a:r>
              <a:rPr lang="en-US" dirty="0"/>
              <a:t> cycles for the simplified DLX and </a:t>
            </a:r>
            <a:r>
              <a:rPr lang="en-US" dirty="0">
                <a:solidFill>
                  <a:srgbClr val="FF0000"/>
                </a:solidFill>
              </a:rPr>
              <a:t>3572</a:t>
            </a:r>
            <a:r>
              <a:rPr lang="en-US" dirty="0"/>
              <a:t> cycles for the dual core DLX, achieving a speedup of 1.9×.</a:t>
            </a:r>
            <a:br>
              <a:rPr lang="en-US" dirty="0"/>
            </a:br>
            <a:endParaRPr lang="LID4096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196910-B207-3C4C-6462-160C59BFE494}"/>
              </a:ext>
            </a:extLst>
          </p:cNvPr>
          <p:cNvSpPr/>
          <p:nvPr/>
        </p:nvSpPr>
        <p:spPr>
          <a:xfrm>
            <a:off x="361360" y="1520803"/>
            <a:ext cx="11739694" cy="262663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D009F4-09CD-F58A-807F-164A5C0A62A1}"/>
              </a:ext>
            </a:extLst>
          </p:cNvPr>
          <p:cNvSpPr/>
          <p:nvPr/>
        </p:nvSpPr>
        <p:spPr>
          <a:xfrm>
            <a:off x="361360" y="4231368"/>
            <a:ext cx="11722485" cy="2261507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10955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E31388-8C21-70FC-261E-71A6C43C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Results- Area and Power</a:t>
            </a:r>
            <a:br>
              <a:rPr lang="en-US" dirty="0"/>
            </a:br>
            <a:r>
              <a:rPr lang="en-US" dirty="0"/>
              <a:t>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D450604-1079-C638-6851-5924E166A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628" y="1454433"/>
            <a:ext cx="6105808" cy="4351338"/>
          </a:xfrm>
        </p:spPr>
        <p:txBody>
          <a:bodyPr>
            <a:normAutofit fontScale="47500" lnSpcReduction="20000"/>
          </a:bodyPr>
          <a:lstStyle/>
          <a:p>
            <a:pPr marL="0" indent="0" algn="l" rtl="0">
              <a:buNone/>
            </a:pPr>
            <a:r>
              <a:rPr lang="en-US" sz="3400" b="1" u="sng" dirty="0"/>
              <a:t>Power Consumption</a:t>
            </a:r>
            <a:r>
              <a:rPr lang="en-US" sz="3400" u="sng" dirty="0"/>
              <a:t>: </a:t>
            </a:r>
          </a:p>
          <a:p>
            <a:pPr algn="l" rtl="0"/>
            <a:r>
              <a:rPr lang="he-IL" altLang="he-IL" sz="2900" dirty="0" err="1">
                <a:latin typeface="Arial" panose="020B0604020202020204" pitchFamily="34" charset="0"/>
              </a:rPr>
              <a:t>Single-core</a:t>
            </a:r>
            <a:r>
              <a:rPr lang="he-IL" altLang="he-IL" sz="2900" dirty="0">
                <a:latin typeface="Arial" panose="020B0604020202020204" pitchFamily="34" charset="0"/>
              </a:rPr>
              <a:t>: 0.086 W → </a:t>
            </a:r>
            <a:r>
              <a:rPr lang="he-IL" altLang="he-IL" sz="2900" dirty="0" err="1">
                <a:latin typeface="Arial" panose="020B0604020202020204" pitchFamily="34" charset="0"/>
              </a:rPr>
              <a:t>Dual-core</a:t>
            </a:r>
            <a:r>
              <a:rPr lang="he-IL" altLang="he-IL" sz="2900" dirty="0">
                <a:latin typeface="Arial" panose="020B0604020202020204" pitchFamily="34" charset="0"/>
              </a:rPr>
              <a:t>: 0.1</a:t>
            </a:r>
            <a:r>
              <a:rPr lang="en-US" altLang="he-IL" sz="2900" dirty="0">
                <a:latin typeface="Arial" panose="020B0604020202020204" pitchFamily="34" charset="0"/>
              </a:rPr>
              <a:t>1</a:t>
            </a:r>
            <a:r>
              <a:rPr lang="he-IL" altLang="he-IL" sz="2900" dirty="0">
                <a:latin typeface="Arial" panose="020B0604020202020204" pitchFamily="34" charset="0"/>
              </a:rPr>
              <a:t> W</a:t>
            </a:r>
            <a:r>
              <a:rPr lang="en-US" altLang="he-IL" sz="2900" dirty="0">
                <a:latin typeface="Arial" panose="020B0604020202020204" pitchFamily="34" charset="0"/>
              </a:rPr>
              <a:t> (+28%)</a:t>
            </a:r>
          </a:p>
          <a:p>
            <a:pPr algn="l" rtl="0"/>
            <a:r>
              <a:rPr lang="en-US" sz="2900" dirty="0"/>
              <a:t>Breakdown: Clock +100%, Logic +150%, Signals +75%, Leakage +7%. DCMs/IOs unchanged</a:t>
            </a:r>
            <a:endParaRPr lang="he-IL" altLang="he-IL" sz="2900" dirty="0">
              <a:latin typeface="Arial" panose="020B0604020202020204" pitchFamily="34" charset="0"/>
            </a:endParaRPr>
          </a:p>
          <a:p>
            <a:pPr marL="0" indent="0" algn="l" rtl="0">
              <a:buNone/>
            </a:pPr>
            <a:r>
              <a:rPr lang="en-US" sz="2900" b="1" dirty="0"/>
              <a:t>Conclusion</a:t>
            </a:r>
            <a:r>
              <a:rPr lang="en-US" sz="2900" dirty="0"/>
              <a:t>: Restrained power due to shared clocking/IO and the FPGA’s static floor keep it way  below 2× scaling.</a:t>
            </a:r>
          </a:p>
          <a:p>
            <a:pPr marL="0" indent="0" algn="l" rtl="0">
              <a:buNone/>
            </a:pPr>
            <a:endParaRPr lang="en-US" sz="2400" b="1" u="sng" dirty="0"/>
          </a:p>
          <a:p>
            <a:pPr marL="0" indent="0" algn="l" rtl="0">
              <a:buNone/>
            </a:pPr>
            <a:endParaRPr lang="en-US" sz="2400" b="1" u="sng" dirty="0"/>
          </a:p>
          <a:p>
            <a:pPr marL="0" indent="0" algn="l" rtl="0">
              <a:buNone/>
            </a:pPr>
            <a:r>
              <a:rPr lang="en-US" sz="3400" b="1" u="sng" dirty="0"/>
              <a:t>Area Utilization</a:t>
            </a:r>
            <a:r>
              <a:rPr lang="en-US" sz="3400" u="sng" dirty="0"/>
              <a:t>: </a:t>
            </a:r>
            <a:endParaRPr lang="he-IL" altLang="he-IL" sz="3400" dirty="0">
              <a:latin typeface="Arial" panose="020B0604020202020204" pitchFamily="34" charset="0"/>
            </a:endParaRPr>
          </a:p>
          <a:p>
            <a:pPr algn="l" rtl="0"/>
            <a:r>
              <a:rPr lang="en-US" dirty="0"/>
              <a:t>Single-core: 2,564 units → Dual-core: 3,775 units (+47%), across key metrics (Registers, LUTs, Slices, MUXCYs).</a:t>
            </a:r>
          </a:p>
          <a:p>
            <a:pPr algn="l" rtl="0"/>
            <a:r>
              <a:rPr lang="en-US" dirty="0"/>
              <a:t>Clock managers, IO buffers, and much of the interconnect fabric are reused rather than duplicated.</a:t>
            </a:r>
          </a:p>
          <a:p>
            <a:pPr algn="l" rtl="0"/>
            <a:r>
              <a:rPr lang="en-US" dirty="0"/>
              <a:t>Efficient packing (co-located LUTs/registers  from different cores into the same slice)</a:t>
            </a:r>
          </a:p>
          <a:p>
            <a:pPr marL="0" indent="0" algn="l" rtl="0">
              <a:buNone/>
            </a:pPr>
            <a:r>
              <a:rPr lang="en-US" b="1" dirty="0"/>
              <a:t>Conclusion</a:t>
            </a:r>
            <a:r>
              <a:rPr lang="en-US" dirty="0"/>
              <a:t>: Area overhead is contained and aligns with expectations for a dual-core upgrade with richer control, remaining comfortably within device capacity (xc6slx25).</a:t>
            </a:r>
            <a:br>
              <a:rPr lang="en-US" dirty="0"/>
            </a:br>
            <a:endParaRPr lang="en-US" dirty="0"/>
          </a:p>
          <a:p>
            <a:pPr algn="l" rtl="0"/>
            <a:endParaRPr lang="en-US" dirty="0"/>
          </a:p>
          <a:p>
            <a:pPr marL="0" indent="0" algn="l" rtl="0">
              <a:buNone/>
            </a:pPr>
            <a:endParaRPr lang="en-US" dirty="0"/>
          </a:p>
        </p:txBody>
      </p:sp>
      <p:pic>
        <p:nvPicPr>
          <p:cNvPr id="6154" name="Picture 10">
            <a:extLst>
              <a:ext uri="{FF2B5EF4-FFF2-40B4-BE49-F238E27FC236}">
                <a16:creationId xmlns:a16="http://schemas.microsoft.com/office/drawing/2014/main" id="{2C5151FC-88DF-43F4-9C20-DBBCB5E4E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8864" y="3630102"/>
            <a:ext cx="4867275" cy="160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9D22194A-8EF9-65CC-FAE5-2E4D731BA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07"/>
          <a:stretch>
            <a:fillRect/>
          </a:stretch>
        </p:blipFill>
        <p:spPr bwMode="auto">
          <a:xfrm>
            <a:off x="7266177" y="957404"/>
            <a:ext cx="4473555" cy="247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03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6FF4F1-2553-D8E6-6491-FABA2AFFC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Conclusions</a:t>
            </a:r>
            <a:br>
              <a:rPr lang="en-US" dirty="0"/>
            </a:b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8EAA89-3DA6-1475-D10F-8FEA45D63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5" y="1690688"/>
            <a:ext cx="11204294" cy="4486275"/>
          </a:xfrm>
        </p:spPr>
        <p:txBody>
          <a:bodyPr>
            <a:normAutofit fontScale="70000" lnSpcReduction="20000"/>
          </a:bodyPr>
          <a:lstStyle/>
          <a:p>
            <a:pPr marL="0" indent="0" algn="l" rtl="0">
              <a:buNone/>
            </a:pPr>
            <a:r>
              <a:rPr lang="en-US" sz="2300" b="1" dirty="0"/>
              <a:t>Achievements:</a:t>
            </a:r>
          </a:p>
          <a:p>
            <a:pPr algn="l" rtl="0"/>
            <a:r>
              <a:rPr lang="en-US" sz="2300" dirty="0"/>
              <a:t>Successful dual-core DLX with atomic support (LR/SC, SWAP, AMOADD) on FPGA.</a:t>
            </a:r>
          </a:p>
          <a:p>
            <a:pPr algn="l" rtl="0"/>
            <a:r>
              <a:rPr lang="en-US" sz="2300" dirty="0"/>
              <a:t>Dual core parallelism ensured synchronization with minimal hardware (area +47%, power +26%)  far below a naive 2x scaling.</a:t>
            </a:r>
          </a:p>
          <a:p>
            <a:pPr algn="l" rtl="0"/>
            <a:r>
              <a:rPr lang="en-US" sz="2300" dirty="0"/>
              <a:t>Meets goals: No race conditions, preserved DLX compatibility, validated in simulation/emulation.</a:t>
            </a:r>
          </a:p>
          <a:p>
            <a:pPr algn="l" rtl="0"/>
            <a:r>
              <a:rPr lang="en-US" sz="2300" dirty="0"/>
              <a:t>Performance: shown 1.85–1.90× speedup in parallel workloads (convolution and matrix multiplication), confirming feasibility for shared-memory parallelism.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sz="2400" b="1" dirty="0"/>
              <a:t>conclusion</a:t>
            </a:r>
            <a:r>
              <a:rPr lang="en-US" sz="2400" dirty="0"/>
              <a:t>: </a:t>
            </a:r>
          </a:p>
          <a:p>
            <a:pPr algn="l" rtl="0"/>
            <a:r>
              <a:rPr lang="en-US" sz="2300" dirty="0"/>
              <a:t>The dual-core processor is especially effective for workloads where most of the computation is carried out internally within each core simultaneously (in a balanced way) , rather than through frequent reads and writes to external memory.</a:t>
            </a:r>
          </a:p>
          <a:p>
            <a:pPr algn="l" rtl="0"/>
            <a:r>
              <a:rPr lang="en-US" sz="2300" dirty="0"/>
              <a:t>Adding another core, with minimal synchronization hardware, can already provide substantial performance gains without excessive area or power costs due to reused wiring and FPGA resources.</a:t>
            </a:r>
          </a:p>
          <a:p>
            <a:pPr marL="0" indent="0" algn="l" rtl="0">
              <a:buNone/>
            </a:pPr>
            <a:endParaRPr lang="en-US" sz="2200" dirty="0"/>
          </a:p>
          <a:p>
            <a:pPr marL="0" indent="0" algn="l" rtl="0">
              <a:buNone/>
            </a:pPr>
            <a:br>
              <a:rPr lang="en-US" dirty="0"/>
            </a:br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89022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618501-A978-5A34-948D-1F458D97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Further Work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7112BCA-8FA8-BF80-74E3-6D8981B36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sz="2000" b="1" dirty="0"/>
              <a:t>Shared Data Reads</a:t>
            </a:r>
            <a:r>
              <a:rPr lang="en-US" sz="2000" dirty="0"/>
              <a:t>: Broadcast single read to both cores if same data needed (saves cycles).</a:t>
            </a:r>
          </a:p>
          <a:p>
            <a:pPr algn="l" rtl="0"/>
            <a:r>
              <a:rPr lang="en-US" sz="2000" b="1" dirty="0"/>
              <a:t>Sharing Computed Results</a:t>
            </a:r>
            <a:r>
              <a:rPr lang="en-US" sz="2000" dirty="0"/>
              <a:t>: Allow one core's result to be shared, avoiding recalculation.</a:t>
            </a:r>
          </a:p>
          <a:p>
            <a:pPr algn="l" rtl="0"/>
            <a:r>
              <a:rPr lang="en-US" sz="2000" dirty="0"/>
              <a:t>Smarter Stalling: Permit internal work during memory arbitration (overlap arithmetic/memory delays).</a:t>
            </a:r>
          </a:p>
          <a:p>
            <a:pPr algn="l" rtl="0"/>
            <a:r>
              <a:rPr lang="en-US" sz="2000" b="1" dirty="0"/>
              <a:t>Dual-Core Aware Assembler</a:t>
            </a:r>
            <a:r>
              <a:rPr lang="en-US" sz="2000" dirty="0"/>
              <a:t>: Auto-balance workloads between cores (e.g., even/odd outputs)</a:t>
            </a:r>
          </a:p>
          <a:p>
            <a:pPr algn="l" rtl="0"/>
            <a:r>
              <a:rPr lang="en-US" sz="2000" b="1" dirty="0"/>
              <a:t>Shallow Pipelining: </a:t>
            </a:r>
            <a:r>
              <a:rPr lang="en-US" sz="2000" dirty="0"/>
              <a:t>Introduce fetch/decode/execute/write-back stages with forwarding/stalls for higher throughput.</a:t>
            </a:r>
          </a:p>
          <a:p>
            <a:pPr algn="l" rtl="0"/>
            <a:endParaRPr lang="en-US" sz="2000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en-US" dirty="0"/>
          </a:p>
          <a:p>
            <a:pPr algn="l" rt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4216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3D827A-E009-20B4-2808-B641A93D3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23794"/>
            <a:ext cx="10515600" cy="1325563"/>
          </a:xfrm>
        </p:spPr>
        <p:txBody>
          <a:bodyPr/>
          <a:lstStyle/>
          <a:p>
            <a:pPr algn="l" rtl="0"/>
            <a:r>
              <a:rPr lang="en-US" u="sng" dirty="0"/>
              <a:t>Documentation</a:t>
            </a:r>
            <a:endParaRPr lang="he-IL" u="sng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B3D8159-7138-3E8C-8B34-F9A18B0B2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469" y="0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45339B-7357-F826-9955-F8BADBC98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64" y="1603943"/>
            <a:ext cx="9018266" cy="426748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B15B92-D150-75F2-8A98-151B866AFD34}"/>
              </a:ext>
            </a:extLst>
          </p:cNvPr>
          <p:cNvSpPr txBox="1"/>
          <p:nvPr/>
        </p:nvSpPr>
        <p:spPr>
          <a:xfrm>
            <a:off x="3018790" y="6009640"/>
            <a:ext cx="6154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dirty="0">
                <a:hlinkClick r:id="rId4"/>
              </a:rPr>
              <a:t>https://github.com/Idoshalev7/Dual_Core_Project/tree/main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358995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16710</TotalTime>
  <Words>2153</Words>
  <Application>Microsoft Office PowerPoint</Application>
  <PresentationFormat>Widescreen</PresentationFormat>
  <Paragraphs>196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ערכת נושא Office</vt:lpstr>
      <vt:lpstr>Processor Extensions to Support Dual-Core Code Synchronization </vt:lpstr>
      <vt:lpstr>What is the Project ? </vt:lpstr>
      <vt:lpstr> Goals </vt:lpstr>
      <vt:lpstr>Challenges in Single-Core DLX for Dual-Core </vt:lpstr>
      <vt:lpstr>Atomic Instructions</vt:lpstr>
      <vt:lpstr>Implementation-SyncBox Design </vt:lpstr>
      <vt:lpstr>Implementation=Cores’ Control State Machine </vt:lpstr>
      <vt:lpstr>Tools and Environment  </vt:lpstr>
      <vt:lpstr>Simulation Environment </vt:lpstr>
      <vt:lpstr>Test scenario: Parallel LR/SC on the Same Memory Address</vt:lpstr>
      <vt:lpstr>Dual accesses to same  address’s Waveform Simulation - LR</vt:lpstr>
      <vt:lpstr>Dual accesses to same  address’s Waveform Simulation - ADDI</vt:lpstr>
      <vt:lpstr>Dual accesses to same  address’s Waveform Simulation - SC</vt:lpstr>
      <vt:lpstr> </vt:lpstr>
      <vt:lpstr>Case usage example- Convolution and matrixes multiplication</vt:lpstr>
      <vt:lpstr> </vt:lpstr>
      <vt:lpstr>Results- Area and Power  </vt:lpstr>
      <vt:lpstr>Conclusions </vt:lpstr>
      <vt:lpstr>Further Work</vt:lpstr>
      <vt:lpstr>Documentation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matan levin</dc:creator>
  <cp:lastModifiedBy>Ido Shalev</cp:lastModifiedBy>
  <cp:revision>51</cp:revision>
  <dcterms:created xsi:type="dcterms:W3CDTF">2025-09-02T11:50:34Z</dcterms:created>
  <dcterms:modified xsi:type="dcterms:W3CDTF">2025-09-14T19:14:59Z</dcterms:modified>
</cp:coreProperties>
</file>